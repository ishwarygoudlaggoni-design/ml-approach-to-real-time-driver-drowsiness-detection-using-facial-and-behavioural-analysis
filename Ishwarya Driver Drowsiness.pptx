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18"/>
  </p:notesMasterIdLst>
  <p:sldIdLst>
    <p:sldId id="276" r:id="rId2"/>
    <p:sldId id="273" r:id="rId3"/>
    <p:sldId id="258" r:id="rId4"/>
    <p:sldId id="259" r:id="rId5"/>
    <p:sldId id="268" r:id="rId6"/>
    <p:sldId id="269" r:id="rId7"/>
    <p:sldId id="260" r:id="rId8"/>
    <p:sldId id="274" r:id="rId9"/>
    <p:sldId id="267" r:id="rId10"/>
    <p:sldId id="262" r:id="rId11"/>
    <p:sldId id="263" r:id="rId12"/>
    <p:sldId id="271" r:id="rId13"/>
    <p:sldId id="264" r:id="rId14"/>
    <p:sldId id="265" r:id="rId15"/>
    <p:sldId id="275" r:id="rId16"/>
    <p:sldId id="277" r:id="rId17"/>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8" d="100"/>
          <a:sy n="78" d="100"/>
        </p:scale>
        <p:origin x="94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22489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569214"/>
            <a:ext cx="7543800" cy="2674620"/>
          </a:xfrm>
        </p:spPr>
        <p:txBody>
          <a:bodyPr anchor="b">
            <a:normAutofit/>
          </a:bodyPr>
          <a:lstStyle>
            <a:lvl1pPr algn="l">
              <a:lnSpc>
                <a:spcPct val="85000"/>
              </a:lnSpc>
              <a:defRPr sz="6000" spc="-38" baseline="0">
                <a:solidFill>
                  <a:schemeClr val="tx1">
                    <a:lumMod val="85000"/>
                    <a:lumOff val="15000"/>
                  </a:schemeClr>
                </a:solidFill>
              </a:defRPr>
            </a:lvl1pPr>
          </a:lstStyle>
          <a:p>
            <a:r>
              <a:rPr lang="en-GB"/>
              <a:t>Click to edit Master title style</a:t>
            </a:r>
            <a:endParaRPr lang="en-US" dirty="0"/>
          </a:p>
        </p:txBody>
      </p:sp>
      <p:sp>
        <p:nvSpPr>
          <p:cNvPr id="3" name="Subtitle 2"/>
          <p:cNvSpPr>
            <a:spLocks noGrp="1"/>
          </p:cNvSpPr>
          <p:nvPr>
            <p:ph type="subTitle" idx="1"/>
          </p:nvPr>
        </p:nvSpPr>
        <p:spPr>
          <a:xfrm>
            <a:off x="825038" y="3341715"/>
            <a:ext cx="754380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dirty="0"/>
              <a:t>5/10/2026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849469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dirty="0"/>
              <a:t>5/10/2026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extLst>
      <p:ext uri="{BB962C8B-B14F-4D97-AF65-F5344CB8AC3E}">
        <p14:creationId xmlns:p14="http://schemas.microsoft.com/office/powerpoint/2010/main" val="85267974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69214"/>
            <a:ext cx="7543800" cy="2674620"/>
          </a:xfrm>
        </p:spPr>
        <p:txBody>
          <a:bodyPr anchor="b" anchorCtr="0">
            <a:normAutofit/>
          </a:bodyPr>
          <a:lstStyle>
            <a:lvl1pPr>
              <a:lnSpc>
                <a:spcPct val="85000"/>
              </a:lnSpc>
              <a:defRPr sz="6000" b="0">
                <a:solidFill>
                  <a:schemeClr val="tx1">
                    <a:lumMod val="85000"/>
                    <a:lumOff val="15000"/>
                  </a:schemeClr>
                </a:solidFill>
              </a:defRPr>
            </a:lvl1pPr>
          </a:lstStyle>
          <a:p>
            <a:r>
              <a:rPr lang="en-GB"/>
              <a:t>Click to edit Master title style</a:t>
            </a:r>
            <a:endParaRPr lang="en-US" dirty="0"/>
          </a:p>
        </p:txBody>
      </p:sp>
      <p:sp>
        <p:nvSpPr>
          <p:cNvPr id="3" name="Text Placeholder 2"/>
          <p:cNvSpPr>
            <a:spLocks noGrp="1"/>
          </p:cNvSpPr>
          <p:nvPr>
            <p:ph type="body" idx="1"/>
          </p:nvPr>
        </p:nvSpPr>
        <p:spPr>
          <a:xfrm>
            <a:off x="822960" y="3339846"/>
            <a:ext cx="7543800" cy="85725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dirty="0"/>
              <a:t>5/10/2026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298638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14953"/>
            <a:ext cx="7543800" cy="1088068"/>
          </a:xfrm>
        </p:spPr>
        <p:txBody>
          <a:bodyPr/>
          <a:lstStyle/>
          <a:p>
            <a:r>
              <a:rPr lang="en-GB"/>
              <a:t>Click to edit Master title style</a:t>
            </a:r>
            <a:endParaRPr lang="en-US" dirty="0"/>
          </a:p>
        </p:txBody>
      </p:sp>
      <p:sp>
        <p:nvSpPr>
          <p:cNvPr id="3" name="Content Placeholder 2"/>
          <p:cNvSpPr>
            <a:spLocks noGrp="1"/>
          </p:cNvSpPr>
          <p:nvPr>
            <p:ph sz="half" idx="1"/>
          </p:nvPr>
        </p:nvSpPr>
        <p:spPr>
          <a:xfrm>
            <a:off x="822959" y="1384301"/>
            <a:ext cx="3703320" cy="301752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663440" y="1384301"/>
            <a:ext cx="3703320" cy="301752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dirty="0"/>
              <a:t>5/10/2026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78783576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14953"/>
            <a:ext cx="7543800" cy="1088068"/>
          </a:xfrm>
        </p:spPr>
        <p:txBody>
          <a:bodyPr/>
          <a:lstStyle/>
          <a:p>
            <a:r>
              <a:rPr lang="en-GB"/>
              <a:t>Click to edit Master title style</a:t>
            </a:r>
            <a:endParaRPr lang="en-US" dirty="0"/>
          </a:p>
        </p:txBody>
      </p:sp>
      <p:sp>
        <p:nvSpPr>
          <p:cNvPr id="3" name="Text Placeholder 2"/>
          <p:cNvSpPr>
            <a:spLocks noGrp="1"/>
          </p:cNvSpPr>
          <p:nvPr>
            <p:ph type="body" idx="1"/>
          </p:nvPr>
        </p:nvSpPr>
        <p:spPr>
          <a:xfrm>
            <a:off x="82296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822960" y="1936751"/>
            <a:ext cx="3703320" cy="25336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66344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p:cNvSpPr>
            <a:spLocks noGrp="1"/>
          </p:cNvSpPr>
          <p:nvPr>
            <p:ph sz="quarter" idx="4"/>
          </p:nvPr>
        </p:nvSpPr>
        <p:spPr>
          <a:xfrm>
            <a:off x="4663440" y="1936751"/>
            <a:ext cx="3703320" cy="25336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dirty="0"/>
              <a:t>5/10/2026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69968396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dirty="0"/>
              <a:t>5/10/2026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423356045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5/10/2026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145414920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45769"/>
            <a:ext cx="2400300" cy="1714500"/>
          </a:xfrm>
        </p:spPr>
        <p:txBody>
          <a:bodyPr anchor="b">
            <a:normAutofit/>
          </a:bodyPr>
          <a:lstStyle>
            <a:lvl1pPr>
              <a:defRPr sz="2700" b="0">
                <a:solidFill>
                  <a:srgbClr val="FFFFFF"/>
                </a:solidFill>
              </a:defRPr>
            </a:lvl1pPr>
          </a:lstStyle>
          <a:p>
            <a:r>
              <a:rPr lang="en-GB"/>
              <a:t>Click to edit Master title style</a:t>
            </a:r>
            <a:endParaRPr lang="en-US" dirty="0"/>
          </a:p>
        </p:txBody>
      </p:sp>
      <p:sp>
        <p:nvSpPr>
          <p:cNvPr id="3" name="Content Placeholder 2"/>
          <p:cNvSpPr>
            <a:spLocks noGrp="1"/>
          </p:cNvSpPr>
          <p:nvPr>
            <p:ph idx="1"/>
          </p:nvPr>
        </p:nvSpPr>
        <p:spPr>
          <a:xfrm>
            <a:off x="3600450" y="548640"/>
            <a:ext cx="4869180" cy="39433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342900" y="2194560"/>
            <a:ext cx="2400300" cy="2534343"/>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5" name="Date Placeholder 4"/>
          <p:cNvSpPr>
            <a:spLocks noGrp="1"/>
          </p:cNvSpPr>
          <p:nvPr>
            <p:ph type="dt" sz="half" idx="10"/>
          </p:nvPr>
        </p:nvSpPr>
        <p:spPr>
          <a:xfrm>
            <a:off x="349134" y="4844839"/>
            <a:ext cx="1963883" cy="273844"/>
          </a:xfrm>
        </p:spPr>
        <p:txBody>
          <a:bodyPr/>
          <a:lstStyle>
            <a:lvl1pPr algn="l">
              <a:defRPr/>
            </a:lvl1pPr>
          </a:lstStyle>
          <a:p>
            <a:fld id="{32ABBEA6-7C60-4B02-AE87-00D78D8422AF}" type="datetimeFigureOut">
              <a:rPr lang="en-US" dirty="0"/>
              <a:t>5/10/2026</a:t>
            </a:fld>
            <a:endParaRPr lang="en-US" dirty="0"/>
          </a:p>
        </p:txBody>
      </p:sp>
      <p:sp>
        <p:nvSpPr>
          <p:cNvPr id="6" name="Footer Placeholder 5"/>
          <p:cNvSpPr>
            <a:spLocks noGrp="1"/>
          </p:cNvSpPr>
          <p:nvPr>
            <p:ph type="ftr" sz="quarter" idx="11"/>
          </p:nvPr>
        </p:nvSpPr>
        <p:spPr>
          <a:xfrm>
            <a:off x="3600450" y="4844839"/>
            <a:ext cx="3486150" cy="273844"/>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312777446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714750"/>
            <a:ext cx="9141619" cy="142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368630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3806190"/>
            <a:ext cx="7584948" cy="617220"/>
          </a:xfrm>
        </p:spPr>
        <p:txBody>
          <a:bodyPr lIns="91440" tIns="0" rIns="91440" bIns="0" anchor="b">
            <a:noAutofit/>
          </a:bodyPr>
          <a:lstStyle>
            <a:lvl1pPr>
              <a:defRPr sz="2700" b="0">
                <a:solidFill>
                  <a:srgbClr val="FFFFFF"/>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12" y="0"/>
            <a:ext cx="9143989" cy="3686307"/>
          </a:xfrm>
          <a:blipFill>
            <a:blip r:embed="rId2"/>
            <a:stretch>
              <a:fillRect/>
            </a:stretch>
          </a:blipFill>
        </p:spPr>
        <p:txBody>
          <a:bodyPr lIns="457200" tIns="457200" anchor="t"/>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dirty="0"/>
          </a:p>
        </p:txBody>
      </p:sp>
      <p:sp>
        <p:nvSpPr>
          <p:cNvPr id="4" name="Text Placeholder 3"/>
          <p:cNvSpPr>
            <a:spLocks noGrp="1"/>
          </p:cNvSpPr>
          <p:nvPr>
            <p:ph type="body" sz="half" idx="2"/>
          </p:nvPr>
        </p:nvSpPr>
        <p:spPr>
          <a:xfrm>
            <a:off x="822960" y="4430267"/>
            <a:ext cx="7584948" cy="445770"/>
          </a:xfrm>
        </p:spPr>
        <p:txBody>
          <a:bodyPr lIns="91440" tIns="0" rIns="91440" bIns="0">
            <a:normAutofit/>
          </a:bodyPr>
          <a:lstStyle>
            <a:lvl1pPr marL="0" indent="0">
              <a:spcBef>
                <a:spcPts val="0"/>
              </a:spcBef>
              <a:spcAft>
                <a:spcPts val="450"/>
              </a:spcAft>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dirty="0"/>
              <a:t>5/10/2026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34080197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dirty="0"/>
              <a:t>5/10/2026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77871731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311084"/>
            <a:ext cx="1971675" cy="4318066"/>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28650" y="311083"/>
            <a:ext cx="5800725" cy="4318067"/>
          </a:xfrm>
        </p:spPr>
        <p:txBody>
          <a:bodyPr vert="eaVert" lIns="45720" tIns="0" rIns="45720" b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dirty="0"/>
              <a:t>5/10/2026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13474847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8853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4800600"/>
            <a:ext cx="914400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4750737"/>
            <a:ext cx="9144001" cy="494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14953"/>
            <a:ext cx="7543800" cy="1088068"/>
          </a:xfrm>
          <a:prstGeom prst="rect">
            <a:avLst/>
          </a:prstGeom>
        </p:spPr>
        <p:txBody>
          <a:bodyPr vert="horz" lIns="91440" tIns="45720" rIns="91440" bIns="45720" rtlCol="0" anchor="b">
            <a:normAutofit/>
          </a:bodyPr>
          <a:lstStyle/>
          <a:p>
            <a:r>
              <a:rPr lang="en-GB"/>
              <a:t>Click to edit Master title style</a:t>
            </a:r>
            <a:endParaRPr lang="en-US" dirty="0"/>
          </a:p>
        </p:txBody>
      </p:sp>
      <p:sp>
        <p:nvSpPr>
          <p:cNvPr id="3" name="Text Placeholder 2"/>
          <p:cNvSpPr>
            <a:spLocks noGrp="1"/>
          </p:cNvSpPr>
          <p:nvPr>
            <p:ph type="body" idx="1"/>
          </p:nvPr>
        </p:nvSpPr>
        <p:spPr>
          <a:xfrm>
            <a:off x="822960" y="1384301"/>
            <a:ext cx="7543800" cy="3017520"/>
          </a:xfrm>
          <a:prstGeom prst="rect">
            <a:avLst/>
          </a:prstGeom>
        </p:spPr>
        <p:txBody>
          <a:bodyPr vert="horz" lIns="0" tIns="45720" rIns="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22961" y="4844839"/>
            <a:ext cx="1854203" cy="273844"/>
          </a:xfrm>
          <a:prstGeom prst="rect">
            <a:avLst/>
          </a:prstGeom>
        </p:spPr>
        <p:txBody>
          <a:bodyPr vert="horz" lIns="91440" tIns="45720" rIns="91440" bIns="45720" rtlCol="0" anchor="ctr"/>
          <a:lstStyle>
            <a:lvl1pPr algn="l">
              <a:defRPr sz="675">
                <a:solidFill>
                  <a:srgbClr val="FFFFFF"/>
                </a:solidFill>
              </a:defRPr>
            </a:lvl1pPr>
          </a:lstStyle>
          <a:p>
            <a:fld id="{98624D31-43A5-475A-80CF-332C9F6DCF35}" type="datetimeFigureOut">
              <a:rPr lang="en-US" dirty="0"/>
              <a:t>5/10/2026</a:t>
            </a:fld>
            <a:endParaRPr lang="en-US" dirty="0"/>
          </a:p>
        </p:txBody>
      </p:sp>
      <p:sp>
        <p:nvSpPr>
          <p:cNvPr id="5" name="Footer Placeholder 4"/>
          <p:cNvSpPr>
            <a:spLocks noGrp="1"/>
          </p:cNvSpPr>
          <p:nvPr>
            <p:ph type="ftr" sz="quarter" idx="3"/>
          </p:nvPr>
        </p:nvSpPr>
        <p:spPr>
          <a:xfrm>
            <a:off x="2764639" y="4844839"/>
            <a:ext cx="3617103" cy="273844"/>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7425344" y="4844839"/>
            <a:ext cx="984019" cy="273844"/>
          </a:xfrm>
          <a:prstGeom prst="rect">
            <a:avLst/>
          </a:prstGeom>
        </p:spPr>
        <p:txBody>
          <a:bodyPr vert="horz" lIns="91440" tIns="45720" rIns="91440" bIns="45720" rtlCol="0" anchor="ctr"/>
          <a:lstStyle>
            <a:lvl1pPr algn="r">
              <a:defRPr sz="788">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895149" y="1303384"/>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0119943"/>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kaggle.com/datasets/samymesbah/nthu-dataset-ddd-multi-class" TargetMode="Externa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73A2C81-F5ED-BC54-15F0-7404812C1302}"/>
              </a:ext>
            </a:extLst>
          </p:cNvPr>
          <p:cNvSpPr/>
          <p:nvPr/>
        </p:nvSpPr>
        <p:spPr>
          <a:xfrm>
            <a:off x="1009649" y="1680830"/>
            <a:ext cx="7315200" cy="849010"/>
          </a:xfrm>
          <a:prstGeom prst="rect">
            <a:avLst/>
          </a:prstGeom>
          <a:noFill/>
          <a:ln/>
        </p:spPr>
        <p:txBody>
          <a:bodyPr wrap="square" rtlCol="0" anchor="ctr"/>
          <a:lstStyle/>
          <a:p>
            <a:pPr algn="ctr"/>
            <a:r>
              <a:rPr lang="en-US" sz="2800" b="1" i="1" dirty="0"/>
              <a:t>Driver drowsiness detection system using deep learning methods</a:t>
            </a:r>
            <a:endParaRPr lang="en-GB" sz="2800" b="1" dirty="0"/>
          </a:p>
        </p:txBody>
      </p:sp>
      <p:sp>
        <p:nvSpPr>
          <p:cNvPr id="3" name="TextBox 2">
            <a:extLst>
              <a:ext uri="{FF2B5EF4-FFF2-40B4-BE49-F238E27FC236}">
                <a16:creationId xmlns:a16="http://schemas.microsoft.com/office/drawing/2014/main" id="{A37ED271-9C8E-E0DF-5C10-8E0395653D08}"/>
              </a:ext>
            </a:extLst>
          </p:cNvPr>
          <p:cNvSpPr txBox="1"/>
          <p:nvPr/>
        </p:nvSpPr>
        <p:spPr>
          <a:xfrm>
            <a:off x="3680460" y="3074016"/>
            <a:ext cx="3429000" cy="923330"/>
          </a:xfrm>
          <a:prstGeom prst="rect">
            <a:avLst/>
          </a:prstGeom>
          <a:noFill/>
        </p:spPr>
        <p:txBody>
          <a:bodyPr wrap="square" rtlCol="0">
            <a:spAutoFit/>
          </a:bodyPr>
          <a:lstStyle/>
          <a:p>
            <a:r>
              <a:rPr lang="en-GB" dirty="0"/>
              <a:t>Student Name:</a:t>
            </a:r>
          </a:p>
          <a:p>
            <a:r>
              <a:rPr lang="en-GB" dirty="0"/>
              <a:t>Student Id:</a:t>
            </a:r>
          </a:p>
          <a:p>
            <a:r>
              <a:rPr lang="en-GB" dirty="0"/>
              <a:t>Supervisor Name:</a:t>
            </a:r>
          </a:p>
        </p:txBody>
      </p:sp>
      <p:pic>
        <p:nvPicPr>
          <p:cNvPr id="4" name="Picture 3">
            <a:extLst>
              <a:ext uri="{FF2B5EF4-FFF2-40B4-BE49-F238E27FC236}">
                <a16:creationId xmlns:a16="http://schemas.microsoft.com/office/drawing/2014/main" id="{CDCC7850-83F7-18B2-99D5-6737634AE812}"/>
              </a:ext>
            </a:extLst>
          </p:cNvPr>
          <p:cNvPicPr>
            <a:picLocks noChangeAspect="1"/>
          </p:cNvPicPr>
          <p:nvPr/>
        </p:nvPicPr>
        <p:blipFill>
          <a:blip r:embed="rId2"/>
          <a:stretch>
            <a:fillRect/>
          </a:stretch>
        </p:blipFill>
        <p:spPr>
          <a:xfrm>
            <a:off x="3291839" y="205181"/>
            <a:ext cx="2750821" cy="870513"/>
          </a:xfrm>
          <a:prstGeom prst="rect">
            <a:avLst/>
          </a:prstGeom>
        </p:spPr>
      </p:pic>
    </p:spTree>
    <p:extLst>
      <p:ext uri="{BB962C8B-B14F-4D97-AF65-F5344CB8AC3E}">
        <p14:creationId xmlns:p14="http://schemas.microsoft.com/office/powerpoint/2010/main" val="29981434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17BB29B-D901-8F00-3DCB-FE810B23E01C}"/>
              </a:ext>
            </a:extLst>
          </p:cNvPr>
          <p:cNvSpPr>
            <a:spLocks noChangeArrowheads="1"/>
          </p:cNvSpPr>
          <p:nvPr/>
        </p:nvSpPr>
        <p:spPr bwMode="auto">
          <a:xfrm>
            <a:off x="457200" y="364271"/>
            <a:ext cx="822960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Arial" panose="020B0604020202020204" pitchFamily="34" charset="0"/>
              </a:rPr>
              <a:t>Drowsy driving is a significant contributor to road accidents worldwide, posing serious safety risks.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Arial" panose="020B0604020202020204" pitchFamily="34" charset="0"/>
              </a:rPr>
              <a:t>Traditional detection methods rely on physical sensors, which are often costly, intrusive, and impractical for real-world use.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Arial" panose="020B0604020202020204" pitchFamily="34" charset="0"/>
              </a:rPr>
              <a:t>Recent advancements in artificial intelligence have enabled non-intrusive monitoring techniques.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Arial" panose="020B0604020202020204" pitchFamily="34" charset="0"/>
              </a:rPr>
              <a:t>This project utilizes deep learning and computer vision to detect driver drowsiness through facial features such as eye closure and head movement.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Arial" panose="020B0604020202020204" pitchFamily="34" charset="0"/>
              </a:rPr>
              <a:t>The proposed approach aims to provide a more efficient, accurate, and real-time solution for enhancing road safety. </a:t>
            </a:r>
          </a:p>
        </p:txBody>
      </p:sp>
      <p:sp>
        <p:nvSpPr>
          <p:cNvPr id="3" name="Text 1">
            <a:extLst>
              <a:ext uri="{FF2B5EF4-FFF2-40B4-BE49-F238E27FC236}">
                <a16:creationId xmlns:a16="http://schemas.microsoft.com/office/drawing/2014/main" id="{57BC71D2-B535-5616-5A3C-2D49235CFC04}"/>
              </a:ext>
            </a:extLst>
          </p:cNvPr>
          <p:cNvSpPr/>
          <p:nvPr/>
        </p:nvSpPr>
        <p:spPr>
          <a:xfrm>
            <a:off x="3695700" y="83820"/>
            <a:ext cx="1998279" cy="544961"/>
          </a:xfrm>
          <a:prstGeom prst="rect">
            <a:avLst/>
          </a:prstGeom>
          <a:noFill/>
          <a:ln/>
        </p:spPr>
        <p:txBody>
          <a:bodyPr wrap="square" rtlCol="0" anchor="ctr"/>
          <a:lstStyle/>
          <a:p>
            <a:pPr marL="0" indent="0">
              <a:buNone/>
            </a:pPr>
            <a:r>
              <a:rPr lang="en-US" sz="2400" b="1" dirty="0">
                <a:solidFill>
                  <a:srgbClr val="1A1A2E"/>
                </a:solidFill>
              </a:rPr>
              <a:t>Introduction</a:t>
            </a:r>
            <a:endParaRPr lang="en-US" sz="2400" dirty="0"/>
          </a:p>
        </p:txBody>
      </p:sp>
    </p:spTree>
    <p:extLst>
      <p:ext uri="{BB962C8B-B14F-4D97-AF65-F5344CB8AC3E}">
        <p14:creationId xmlns:p14="http://schemas.microsoft.com/office/powerpoint/2010/main" val="14786904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3216165" y="673609"/>
            <a:ext cx="2711669" cy="484631"/>
          </a:xfrm>
          <a:prstGeom prst="rect">
            <a:avLst/>
          </a:prstGeom>
          <a:noFill/>
          <a:ln/>
        </p:spPr>
        <p:txBody>
          <a:bodyPr wrap="square" rtlCol="0" anchor="ctr"/>
          <a:lstStyle/>
          <a:p>
            <a:pPr marL="0" indent="0">
              <a:buNone/>
            </a:pPr>
            <a:r>
              <a:rPr lang="en-US" sz="2400" b="1" dirty="0">
                <a:solidFill>
                  <a:srgbClr val="1A1A2E"/>
                </a:solidFill>
              </a:rPr>
              <a:t>Problem Statement</a:t>
            </a:r>
            <a:endParaRPr lang="en-US" sz="2400" dirty="0"/>
          </a:p>
        </p:txBody>
      </p:sp>
      <p:sp>
        <p:nvSpPr>
          <p:cNvPr id="4" name="Text 2"/>
          <p:cNvSpPr/>
          <p:nvPr/>
        </p:nvSpPr>
        <p:spPr>
          <a:xfrm>
            <a:off x="457200" y="1371600"/>
            <a:ext cx="8229600" cy="2613660"/>
          </a:xfrm>
          <a:prstGeom prst="rect">
            <a:avLst/>
          </a:prstGeom>
          <a:noFill/>
          <a:ln/>
        </p:spPr>
        <p:txBody>
          <a:bodyPr wrap="square" rtlCol="0" anchor="ctr"/>
          <a:lstStyle/>
          <a:p>
            <a:pPr algn="just">
              <a:lnSpc>
                <a:spcPct val="150000"/>
              </a:lnSpc>
            </a:pPr>
            <a:r>
              <a:rPr lang="en-GB" sz="1600" dirty="0"/>
              <a:t>Drowsy driving is a major cause of road accidents, yet accurately identifying a driver’s level of drowsiness remains challenging. Existing methods often fail to reliably distinguish between different states such as alertness, yawning, and early signs of sleep due to subtle visual differences. Additionally, variations in real-world conditions and imbalanced data further complicate accurate detection, making it difficult to ensure timely and reliable classification of driver states.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3844290" y="771142"/>
            <a:ext cx="1581544" cy="484631"/>
          </a:xfrm>
          <a:prstGeom prst="rect">
            <a:avLst/>
          </a:prstGeom>
          <a:noFill/>
          <a:ln/>
        </p:spPr>
        <p:txBody>
          <a:bodyPr wrap="square" rtlCol="0" anchor="ctr"/>
          <a:lstStyle/>
          <a:p>
            <a:pPr marL="0" indent="0">
              <a:buNone/>
            </a:pPr>
            <a:r>
              <a:rPr lang="en-US" sz="2400" b="1" dirty="0">
                <a:solidFill>
                  <a:srgbClr val="1A1A2E"/>
                </a:solidFill>
              </a:rPr>
              <a:t>Objectives</a:t>
            </a:r>
            <a:endParaRPr lang="en-US" sz="2400" dirty="0"/>
          </a:p>
        </p:txBody>
      </p:sp>
      <p:sp>
        <p:nvSpPr>
          <p:cNvPr id="5" name="Rectangle 1">
            <a:extLst>
              <a:ext uri="{FF2B5EF4-FFF2-40B4-BE49-F238E27FC236}">
                <a16:creationId xmlns:a16="http://schemas.microsoft.com/office/drawing/2014/main" id="{B9DBB9E7-EF36-1F20-D229-1CE784AA33D4}"/>
              </a:ext>
            </a:extLst>
          </p:cNvPr>
          <p:cNvSpPr>
            <a:spLocks noChangeArrowheads="1"/>
          </p:cNvSpPr>
          <p:nvPr/>
        </p:nvSpPr>
        <p:spPr bwMode="auto">
          <a:xfrm>
            <a:off x="409904" y="1288144"/>
            <a:ext cx="8450317" cy="294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Arial" panose="020B0604020202020204" pitchFamily="34" charset="0"/>
              </a:rPr>
              <a:t>To develop a multi-class classification model for detecting different driver drowsiness states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Arial" panose="020B0604020202020204" pitchFamily="34" charset="0"/>
              </a:rPr>
              <a:t>To address class imbalance in the dataset to improve model performance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Arial" panose="020B0604020202020204" pitchFamily="34" charset="0"/>
              </a:rPr>
              <a:t>To apply data augmentation techniques for enhancing model generalization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Arial" panose="020B0604020202020204" pitchFamily="34" charset="0"/>
              </a:rPr>
              <a:t>To implement and compare different Convolutional Neural Network (CNN) models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24D82362-1D7D-BDE4-62EC-30E32BEFF520}"/>
              </a:ext>
            </a:extLst>
          </p:cNvPr>
          <p:cNvSpPr/>
          <p:nvPr/>
        </p:nvSpPr>
        <p:spPr>
          <a:xfrm>
            <a:off x="3299460" y="739135"/>
            <a:ext cx="2895600" cy="484631"/>
          </a:xfrm>
          <a:prstGeom prst="rect">
            <a:avLst/>
          </a:prstGeom>
          <a:noFill/>
          <a:ln/>
        </p:spPr>
        <p:txBody>
          <a:bodyPr wrap="square" rtlCol="0" anchor="ctr"/>
          <a:lstStyle/>
          <a:p>
            <a:pPr marL="0" indent="0">
              <a:buNone/>
            </a:pPr>
            <a:r>
              <a:rPr lang="en-US" sz="2400" b="1" dirty="0">
                <a:solidFill>
                  <a:srgbClr val="1A1A2E"/>
                </a:solidFill>
              </a:rPr>
              <a:t>Literature Review</a:t>
            </a:r>
            <a:endParaRPr lang="en-US" sz="2400" dirty="0"/>
          </a:p>
        </p:txBody>
      </p:sp>
      <p:sp>
        <p:nvSpPr>
          <p:cNvPr id="3" name="Rectangle 1">
            <a:extLst>
              <a:ext uri="{FF2B5EF4-FFF2-40B4-BE49-F238E27FC236}">
                <a16:creationId xmlns:a16="http://schemas.microsoft.com/office/drawing/2014/main" id="{61AA4C2E-D418-AFD7-DE3C-52F327EE4E11}"/>
              </a:ext>
            </a:extLst>
          </p:cNvPr>
          <p:cNvSpPr>
            <a:spLocks noChangeArrowheads="1"/>
          </p:cNvSpPr>
          <p:nvPr/>
        </p:nvSpPr>
        <p:spPr bwMode="auto">
          <a:xfrm>
            <a:off x="1116198" y="1050022"/>
            <a:ext cx="7094483" cy="36591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kumimoji="0" lang="en-US" altLang="en-US" sz="1200" i="0" u="none" strike="noStrike" cap="none" normalizeH="0" baseline="0" dirty="0">
              <a:ln>
                <a:noFill/>
              </a:ln>
              <a:solidFill>
                <a:schemeClr val="tx1"/>
              </a:solidFill>
              <a:effectLst/>
              <a:latin typeface="Arial" panose="020B0604020202020204" pitchFamily="34" charset="0"/>
            </a:endParaRPr>
          </a:p>
          <a:p>
            <a:pPr marL="171450" marR="0" lvl="0" indent="-1714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200" i="0" u="none" strike="noStrike" cap="none" normalizeH="0" baseline="0" dirty="0">
                <a:ln>
                  <a:noFill/>
                </a:ln>
                <a:solidFill>
                  <a:schemeClr val="tx1"/>
                </a:solidFill>
                <a:effectLst/>
                <a:latin typeface="Arial" panose="020B0604020202020204" pitchFamily="34" charset="0"/>
              </a:rPr>
              <a:t>Traditional driver drowsiness detection systems rely on sensors such as EEG, heart rate monitors, and vehicle </a:t>
            </a:r>
            <a:r>
              <a:rPr kumimoji="0" lang="en-US" altLang="en-US" sz="1200" i="0" u="none" strike="noStrike" cap="none" normalizeH="0" baseline="0" dirty="0" err="1">
                <a:ln>
                  <a:noFill/>
                </a:ln>
                <a:solidFill>
                  <a:schemeClr val="tx1"/>
                </a:solidFill>
                <a:effectLst/>
                <a:latin typeface="Arial" panose="020B0604020202020204" pitchFamily="34" charset="0"/>
              </a:rPr>
              <a:t>behaviour</a:t>
            </a:r>
            <a:r>
              <a:rPr kumimoji="0" lang="en-US" altLang="en-US" sz="1200" i="0" u="none" strike="noStrike" cap="none" normalizeH="0" baseline="0" dirty="0">
                <a:ln>
                  <a:noFill/>
                </a:ln>
                <a:solidFill>
                  <a:schemeClr val="tx1"/>
                </a:solidFill>
                <a:effectLst/>
                <a:latin typeface="Arial" panose="020B0604020202020204" pitchFamily="34" charset="0"/>
              </a:rPr>
              <a:t> analysis, which are often intrusive and impractical for real-world deployment (Dinges and Mallis, 1998) </a:t>
            </a:r>
          </a:p>
          <a:p>
            <a:pPr marL="171450" marR="0" lvl="0" indent="-1714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200" i="0" u="none" strike="noStrike" cap="none" normalizeH="0" baseline="0" dirty="0">
                <a:ln>
                  <a:noFill/>
                </a:ln>
                <a:solidFill>
                  <a:schemeClr val="tx1"/>
                </a:solidFill>
                <a:effectLst/>
                <a:latin typeface="Arial" panose="020B0604020202020204" pitchFamily="34" charset="0"/>
              </a:rPr>
              <a:t>Recent research has shifted towards computer vision-based deep learning approaches for non-intrusive monitoring of driver fatigue (Sikander and Anwar, 2019) </a:t>
            </a:r>
          </a:p>
          <a:p>
            <a:pPr marL="171450" marR="0" lvl="0" indent="-1714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200" i="0" u="none" strike="noStrike" cap="none" normalizeH="0" baseline="0" dirty="0">
                <a:ln>
                  <a:noFill/>
                </a:ln>
                <a:solidFill>
                  <a:schemeClr val="tx1"/>
                </a:solidFill>
                <a:effectLst/>
                <a:latin typeface="Arial" panose="020B0604020202020204" pitchFamily="34" charset="0"/>
              </a:rPr>
              <a:t>Convolutional Neural Networks (CNNs) have shown strong capability in extracting facial features such as eye closure and yawning for classification tasks (LeCun et al., 2015) </a:t>
            </a:r>
          </a:p>
          <a:p>
            <a:pPr marL="171450" marR="0" lvl="0" indent="-1714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200" i="0" u="none" strike="noStrike" cap="none" normalizeH="0" baseline="0" dirty="0">
                <a:ln>
                  <a:noFill/>
                </a:ln>
                <a:solidFill>
                  <a:schemeClr val="tx1"/>
                </a:solidFill>
                <a:effectLst/>
                <a:latin typeface="Arial" panose="020B0604020202020204" pitchFamily="34" charset="0"/>
              </a:rPr>
              <a:t>Pre-trained deep learning models such as VGG16, ResNet50, and MobileNetV2 are widely used with transfer learning to improve performance (Simonyan and Zisserman, 2014; He et al., 2016; Howard et al., 2017) </a:t>
            </a:r>
          </a:p>
          <a:p>
            <a:pPr marL="171450" marR="0" lvl="0" indent="-1714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200" i="0" u="none" strike="noStrike" cap="none" normalizeH="0" baseline="0" dirty="0">
                <a:ln>
                  <a:noFill/>
                </a:ln>
                <a:solidFill>
                  <a:schemeClr val="tx1"/>
                </a:solidFill>
                <a:effectLst/>
                <a:latin typeface="Arial" panose="020B0604020202020204" pitchFamily="34" charset="0"/>
              </a:rPr>
              <a:t>Despite advancements, challenges such as real-time processing, class imbalance, and environmental variations still affect system reliability (Dunn et al., 2020) </a:t>
            </a:r>
          </a:p>
        </p:txBody>
      </p:sp>
    </p:spTree>
    <p:extLst>
      <p:ext uri="{BB962C8B-B14F-4D97-AF65-F5344CB8AC3E}">
        <p14:creationId xmlns:p14="http://schemas.microsoft.com/office/powerpoint/2010/main" val="3629994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9F9D118E-679C-1B1C-DF78-6B5DC746DB21}"/>
              </a:ext>
            </a:extLst>
          </p:cNvPr>
          <p:cNvSpPr/>
          <p:nvPr/>
        </p:nvSpPr>
        <p:spPr>
          <a:xfrm>
            <a:off x="2895600" y="763522"/>
            <a:ext cx="3764280" cy="484631"/>
          </a:xfrm>
          <a:prstGeom prst="rect">
            <a:avLst/>
          </a:prstGeom>
          <a:noFill/>
          <a:ln/>
        </p:spPr>
        <p:txBody>
          <a:bodyPr wrap="square" rtlCol="0" anchor="ctr"/>
          <a:lstStyle/>
          <a:p>
            <a:pPr marL="0" indent="0">
              <a:buNone/>
            </a:pPr>
            <a:r>
              <a:rPr lang="en-US" sz="2400" b="1" dirty="0">
                <a:solidFill>
                  <a:srgbClr val="1A1A2E"/>
                </a:solidFill>
              </a:rPr>
              <a:t>Identified Research Gaps</a:t>
            </a:r>
            <a:endParaRPr lang="en-US" sz="2400" dirty="0"/>
          </a:p>
        </p:txBody>
      </p:sp>
      <p:sp>
        <p:nvSpPr>
          <p:cNvPr id="4" name="TextBox 3">
            <a:extLst>
              <a:ext uri="{FF2B5EF4-FFF2-40B4-BE49-F238E27FC236}">
                <a16:creationId xmlns:a16="http://schemas.microsoft.com/office/drawing/2014/main" id="{009A5D43-2377-6A1D-B198-57B17364CB96}"/>
              </a:ext>
            </a:extLst>
          </p:cNvPr>
          <p:cNvSpPr txBox="1"/>
          <p:nvPr/>
        </p:nvSpPr>
        <p:spPr>
          <a:xfrm>
            <a:off x="1011555" y="1513930"/>
            <a:ext cx="7120890" cy="2644250"/>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GB" sz="1400" dirty="0"/>
              <a:t>Existing sensor-based drowsiness detection systems are often intrusive, expensive, and not suitable for real-world continuous monitoring </a:t>
            </a:r>
          </a:p>
          <a:p>
            <a:pPr marL="285750" indent="-285750" algn="just">
              <a:lnSpc>
                <a:spcPct val="150000"/>
              </a:lnSpc>
              <a:buFont typeface="Wingdings" panose="05000000000000000000" pitchFamily="2" charset="2"/>
              <a:buChar char="Ø"/>
            </a:pPr>
            <a:r>
              <a:rPr lang="en-GB" sz="1400" dirty="0"/>
              <a:t>Many deep learning models suffer from poor generalization due to limited and imbalanced datasets </a:t>
            </a:r>
          </a:p>
          <a:p>
            <a:pPr marL="285750" indent="-285750" algn="just">
              <a:lnSpc>
                <a:spcPct val="150000"/>
              </a:lnSpc>
              <a:buFont typeface="Wingdings" panose="05000000000000000000" pitchFamily="2" charset="2"/>
              <a:buChar char="Ø"/>
            </a:pPr>
            <a:r>
              <a:rPr lang="en-GB" sz="1400" dirty="0"/>
              <a:t>Most existing systems struggle with real-time detection constraints, making them less effective for on-road deployment </a:t>
            </a:r>
          </a:p>
          <a:p>
            <a:pPr marL="285750" indent="-285750" algn="just">
              <a:lnSpc>
                <a:spcPct val="150000"/>
              </a:lnSpc>
              <a:buFont typeface="Wingdings" panose="05000000000000000000" pitchFamily="2" charset="2"/>
              <a:buChar char="Ø"/>
            </a:pPr>
            <a:r>
              <a:rPr lang="en-GB" sz="1400" dirty="0"/>
              <a:t>Visual similarity between drowsiness states (e.g., blinking vs. sleepy vs. yawning) leads to misclassification and reduced accuracy </a:t>
            </a:r>
          </a:p>
        </p:txBody>
      </p:sp>
    </p:spTree>
    <p:extLst>
      <p:ext uri="{BB962C8B-B14F-4D97-AF65-F5344CB8AC3E}">
        <p14:creationId xmlns:p14="http://schemas.microsoft.com/office/powerpoint/2010/main" val="2306806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2452851" y="571130"/>
            <a:ext cx="4238297" cy="610753"/>
          </a:xfrm>
          <a:prstGeom prst="rect">
            <a:avLst/>
          </a:prstGeom>
          <a:noFill/>
          <a:ln/>
        </p:spPr>
        <p:txBody>
          <a:bodyPr wrap="square" rtlCol="0" anchor="ctr"/>
          <a:lstStyle/>
          <a:p>
            <a:pPr marL="0" indent="0">
              <a:buNone/>
            </a:pPr>
            <a:r>
              <a:rPr lang="en-US" sz="3200" b="1" dirty="0">
                <a:solidFill>
                  <a:srgbClr val="1A1A2E"/>
                </a:solidFill>
              </a:rPr>
              <a:t>Proposed Methodology</a:t>
            </a:r>
            <a:endParaRPr lang="en-US" sz="3200" dirty="0"/>
          </a:p>
        </p:txBody>
      </p:sp>
      <p:sp>
        <p:nvSpPr>
          <p:cNvPr id="5" name="Rectangle 1">
            <a:extLst>
              <a:ext uri="{FF2B5EF4-FFF2-40B4-BE49-F238E27FC236}">
                <a16:creationId xmlns:a16="http://schemas.microsoft.com/office/drawing/2014/main" id="{C38237C4-A68B-3921-3127-C58B387C6E57}"/>
              </a:ext>
            </a:extLst>
          </p:cNvPr>
          <p:cNvSpPr>
            <a:spLocks noChangeArrowheads="1"/>
          </p:cNvSpPr>
          <p:nvPr/>
        </p:nvSpPr>
        <p:spPr bwMode="auto">
          <a:xfrm>
            <a:off x="833302" y="1675232"/>
            <a:ext cx="6827519" cy="2637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Arial" panose="020B0604020202020204" pitchFamily="34" charset="0"/>
              </a:rPr>
              <a:t>Dataset Collection: </a:t>
            </a:r>
            <a:r>
              <a:rPr kumimoji="0" lang="en-US" altLang="en-US" sz="1400" i="0" u="none" strike="noStrike" cap="none" normalizeH="0" baseline="0" dirty="0">
                <a:ln>
                  <a:noFill/>
                </a:ln>
                <a:solidFill>
                  <a:schemeClr val="tx1"/>
                </a:solidFill>
                <a:effectLst/>
                <a:latin typeface="Arial" panose="020B0604020202020204" pitchFamily="34" charset="0"/>
              </a:rPr>
              <a:t>Acquire driver facial image dataset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Arial" panose="020B0604020202020204" pitchFamily="34" charset="0"/>
              </a:rPr>
              <a:t>Preprocessing: </a:t>
            </a:r>
            <a:r>
              <a:rPr kumimoji="0" lang="en-US" altLang="en-US" sz="1400" i="0" u="none" strike="noStrike" cap="none" normalizeH="0" baseline="0" dirty="0">
                <a:ln>
                  <a:noFill/>
                </a:ln>
                <a:solidFill>
                  <a:schemeClr val="tx1"/>
                </a:solidFill>
                <a:effectLst/>
                <a:latin typeface="Arial" panose="020B0604020202020204" pitchFamily="34" charset="0"/>
              </a:rPr>
              <a:t>Resize images, normalize data, and clean inputs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Arial" panose="020B0604020202020204" pitchFamily="34" charset="0"/>
              </a:rPr>
              <a:t>Data Augmentation: </a:t>
            </a:r>
            <a:r>
              <a:rPr kumimoji="0" lang="en-US" altLang="en-US" sz="1400" i="0" u="none" strike="noStrike" cap="none" normalizeH="0" baseline="0" dirty="0">
                <a:ln>
                  <a:noFill/>
                </a:ln>
                <a:solidFill>
                  <a:schemeClr val="tx1"/>
                </a:solidFill>
                <a:effectLst/>
                <a:latin typeface="Arial" panose="020B0604020202020204" pitchFamily="34" charset="0"/>
              </a:rPr>
              <a:t>Apply transformations (rotation, flipping, zoom) to improve generalization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Arial" panose="020B0604020202020204" pitchFamily="34" charset="0"/>
              </a:rPr>
              <a:t>Model Development: </a:t>
            </a:r>
            <a:r>
              <a:rPr kumimoji="0" lang="en-US" altLang="en-US" sz="1400" i="0" u="none" strike="noStrike" cap="none" normalizeH="0" baseline="0" dirty="0">
                <a:ln>
                  <a:noFill/>
                </a:ln>
                <a:solidFill>
                  <a:schemeClr val="tx1"/>
                </a:solidFill>
                <a:effectLst/>
                <a:latin typeface="Arial" panose="020B0604020202020204" pitchFamily="34" charset="0"/>
              </a:rPr>
              <a:t>Train multiple CNN models for multi-class classification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Arial" panose="020B0604020202020204" pitchFamily="34" charset="0"/>
              </a:rPr>
              <a:t>Evaluation: </a:t>
            </a:r>
            <a:r>
              <a:rPr kumimoji="0" lang="en-US" altLang="en-US" sz="1400" i="0" u="none" strike="noStrike" cap="none" normalizeH="0" baseline="0" dirty="0">
                <a:ln>
                  <a:noFill/>
                </a:ln>
                <a:solidFill>
                  <a:schemeClr val="tx1"/>
                </a:solidFill>
                <a:effectLst/>
                <a:latin typeface="Arial" panose="020B0604020202020204" pitchFamily="34" charset="0"/>
              </a:rPr>
              <a:t>Assess model performance using metrics such as accuracy and loss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kumimoji="0" lang="en-US" altLang="en-US" sz="140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74E2A5AA-7288-08E5-3FE1-6842737B6D37}"/>
              </a:ext>
            </a:extLst>
          </p:cNvPr>
          <p:cNvPicPr>
            <a:picLocks noChangeAspect="1"/>
          </p:cNvPicPr>
          <p:nvPr/>
        </p:nvPicPr>
        <p:blipFill>
          <a:blip r:embed="rId3"/>
          <a:srcRect b="20109"/>
          <a:stretch>
            <a:fillRect/>
          </a:stretch>
        </p:blipFill>
        <p:spPr>
          <a:xfrm>
            <a:off x="8036923" y="1181883"/>
            <a:ext cx="739140" cy="295254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F840C56F-8C15-D362-B7D8-5F5FFFD1402A}"/>
              </a:ext>
            </a:extLst>
          </p:cNvPr>
          <p:cNvSpPr/>
          <p:nvPr/>
        </p:nvSpPr>
        <p:spPr>
          <a:xfrm>
            <a:off x="502920" y="201167"/>
            <a:ext cx="8229600" cy="499869"/>
          </a:xfrm>
          <a:prstGeom prst="rect">
            <a:avLst/>
          </a:prstGeom>
          <a:noFill/>
          <a:ln/>
        </p:spPr>
        <p:txBody>
          <a:bodyPr wrap="square" rtlCol="0" anchor="ctr"/>
          <a:lstStyle/>
          <a:p>
            <a:pPr marL="0" indent="0" algn="ctr">
              <a:buNone/>
            </a:pPr>
            <a:r>
              <a:rPr lang="en-US" sz="4000" b="1" u="sng" dirty="0">
                <a:solidFill>
                  <a:srgbClr val="1A1A2E"/>
                </a:solidFill>
              </a:rPr>
              <a:t>Dataset Description</a:t>
            </a:r>
            <a:endParaRPr lang="en-US" sz="4000" u="sng" dirty="0"/>
          </a:p>
        </p:txBody>
      </p:sp>
      <p:sp>
        <p:nvSpPr>
          <p:cNvPr id="3" name="Rectangle 1">
            <a:extLst>
              <a:ext uri="{FF2B5EF4-FFF2-40B4-BE49-F238E27FC236}">
                <a16:creationId xmlns:a16="http://schemas.microsoft.com/office/drawing/2014/main" id="{ED19231C-3983-3BDB-9881-BE484E6C40C8}"/>
              </a:ext>
            </a:extLst>
          </p:cNvPr>
          <p:cNvSpPr>
            <a:spLocks noChangeArrowheads="1"/>
          </p:cNvSpPr>
          <p:nvPr/>
        </p:nvSpPr>
        <p:spPr bwMode="auto">
          <a:xfrm>
            <a:off x="160972" y="1720126"/>
            <a:ext cx="551688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200" b="1" i="0" u="none" strike="noStrike" cap="none" normalizeH="0" baseline="0" dirty="0">
                <a:ln>
                  <a:noFill/>
                </a:ln>
                <a:solidFill>
                  <a:schemeClr val="tx1"/>
                </a:solidFill>
                <a:effectLst/>
                <a:latin typeface="Arial" panose="020B0604020202020204" pitchFamily="34" charset="0"/>
              </a:rPr>
              <a:t>Dataset Used:</a:t>
            </a:r>
            <a:r>
              <a:rPr kumimoji="0" lang="en-US" altLang="en-US" sz="1200" b="0" i="0" u="none" strike="noStrike" cap="none" normalizeH="0" baseline="0" dirty="0">
                <a:ln>
                  <a:noFill/>
                </a:ln>
                <a:solidFill>
                  <a:schemeClr val="tx1"/>
                </a:solidFill>
                <a:effectLst/>
                <a:latin typeface="Arial" panose="020B0604020202020204" pitchFamily="34" charset="0"/>
              </a:rPr>
              <a:t> NTHU Driver Drowsiness Detection Dataset </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200" b="1" i="0" u="none" strike="noStrike" cap="none" normalizeH="0" baseline="0" dirty="0">
                <a:ln>
                  <a:noFill/>
                </a:ln>
                <a:solidFill>
                  <a:schemeClr val="tx1"/>
                </a:solidFill>
                <a:effectLst/>
                <a:latin typeface="Arial" panose="020B0604020202020204" pitchFamily="34" charset="0"/>
              </a:rPr>
              <a:t>Total Images:</a:t>
            </a:r>
            <a:r>
              <a:rPr kumimoji="0" lang="en-US" altLang="en-US" sz="1200" b="0" i="0" u="none" strike="noStrike" cap="none" normalizeH="0" baseline="0" dirty="0">
                <a:ln>
                  <a:noFill/>
                </a:ln>
                <a:solidFill>
                  <a:schemeClr val="tx1"/>
                </a:solidFill>
                <a:effectLst/>
                <a:latin typeface="Arial" panose="020B0604020202020204" pitchFamily="34" charset="0"/>
              </a:rPr>
              <a:t> 66,521 </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200" b="1" i="0" u="none" strike="noStrike" cap="none" normalizeH="0" baseline="0" dirty="0">
                <a:ln>
                  <a:noFill/>
                </a:ln>
                <a:solidFill>
                  <a:schemeClr val="tx1"/>
                </a:solidFill>
                <a:effectLst/>
                <a:latin typeface="Arial" panose="020B0604020202020204" pitchFamily="34" charset="0"/>
              </a:rPr>
              <a:t>Balanced Subset:</a:t>
            </a:r>
            <a:r>
              <a:rPr kumimoji="0" lang="en-US" altLang="en-US" sz="1200" b="0" i="0" u="none" strike="noStrike" cap="none" normalizeH="0" baseline="0" dirty="0">
                <a:ln>
                  <a:noFill/>
                </a:ln>
                <a:solidFill>
                  <a:schemeClr val="tx1"/>
                </a:solidFill>
                <a:effectLst/>
                <a:latin typeface="Arial" panose="020B0604020202020204" pitchFamily="34" charset="0"/>
              </a:rPr>
              <a:t> 36,274 images used for training </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200" b="1" i="0" u="none" strike="noStrike" cap="none" normalizeH="0" baseline="0" dirty="0">
                <a:ln>
                  <a:noFill/>
                </a:ln>
                <a:solidFill>
                  <a:schemeClr val="tx1"/>
                </a:solidFill>
                <a:effectLst/>
                <a:latin typeface="Arial" panose="020B0604020202020204" pitchFamily="34" charset="0"/>
              </a:rPr>
              <a:t>Image Resolution:</a:t>
            </a:r>
            <a:r>
              <a:rPr kumimoji="0" lang="en-US" altLang="en-US" sz="1200" b="0" i="0" u="none" strike="noStrike" cap="none" normalizeH="0" baseline="0" dirty="0">
                <a:ln>
                  <a:noFill/>
                </a:ln>
                <a:solidFill>
                  <a:schemeClr val="tx1"/>
                </a:solidFill>
                <a:effectLst/>
                <a:latin typeface="Arial" panose="020B0604020202020204" pitchFamily="34" charset="0"/>
              </a:rPr>
              <a:t> 128 × 128 pixels </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200" b="1" i="0" u="none" strike="noStrike" cap="none" normalizeH="0" baseline="0" dirty="0">
                <a:ln>
                  <a:noFill/>
                </a:ln>
                <a:solidFill>
                  <a:schemeClr val="tx1"/>
                </a:solidFill>
                <a:effectLst/>
                <a:latin typeface="Arial" panose="020B0604020202020204" pitchFamily="34" charset="0"/>
              </a:rPr>
              <a:t>Number of Classes:</a:t>
            </a:r>
            <a:r>
              <a:rPr kumimoji="0" lang="en-US" altLang="en-US" sz="1200" b="0" i="0" u="none" strike="noStrike" cap="none" normalizeH="0" baseline="0" dirty="0">
                <a:ln>
                  <a:noFill/>
                </a:ln>
                <a:solidFill>
                  <a:schemeClr val="tx1"/>
                </a:solidFill>
                <a:effectLst/>
                <a:latin typeface="Arial" panose="020B0604020202020204" pitchFamily="34" charset="0"/>
              </a:rPr>
              <a:t> 4 (Not Drowsy, Yawning, Sleepy, Slow Blink &amp; Nodding) </a:t>
            </a:r>
          </a:p>
        </p:txBody>
      </p:sp>
      <p:sp>
        <p:nvSpPr>
          <p:cNvPr id="4" name="TextBox 3">
            <a:extLst>
              <a:ext uri="{FF2B5EF4-FFF2-40B4-BE49-F238E27FC236}">
                <a16:creationId xmlns:a16="http://schemas.microsoft.com/office/drawing/2014/main" id="{A9B1E9BB-4618-1A8A-D13F-03A13443CE36}"/>
              </a:ext>
            </a:extLst>
          </p:cNvPr>
          <p:cNvSpPr txBox="1"/>
          <p:nvPr/>
        </p:nvSpPr>
        <p:spPr>
          <a:xfrm>
            <a:off x="289560" y="3214915"/>
            <a:ext cx="3787140" cy="646331"/>
          </a:xfrm>
          <a:prstGeom prst="rect">
            <a:avLst/>
          </a:prstGeom>
          <a:noFill/>
        </p:spPr>
        <p:txBody>
          <a:bodyPr wrap="square">
            <a:spAutoFit/>
          </a:bodyPr>
          <a:lstStyle/>
          <a:p>
            <a:r>
              <a:rPr lang="en-GB" sz="1200" b="1" dirty="0"/>
              <a:t>Dataset Link </a:t>
            </a:r>
            <a:r>
              <a:rPr lang="en-GB" sz="1200" dirty="0"/>
              <a:t>-</a:t>
            </a:r>
            <a:r>
              <a:rPr lang="en-GB" sz="1200" dirty="0">
                <a:hlinkClick r:id="rId2"/>
              </a:rPr>
              <a:t>https://www.kaggle.com/datasets/samymesbah/nthu-dataset-ddd-multi-class</a:t>
            </a:r>
            <a:endParaRPr lang="en-GB" sz="1200" dirty="0"/>
          </a:p>
        </p:txBody>
      </p:sp>
      <p:pic>
        <p:nvPicPr>
          <p:cNvPr id="5" name="Picture 3">
            <a:extLst>
              <a:ext uri="{FF2B5EF4-FFF2-40B4-BE49-F238E27FC236}">
                <a16:creationId xmlns:a16="http://schemas.microsoft.com/office/drawing/2014/main" id="{5F18F945-6941-6803-83AB-CE6E909090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0171" y="2406384"/>
            <a:ext cx="4136708" cy="226339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BE6154C8-FFB3-19E5-DFCA-E5C4BDE39E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6870" y="813631"/>
            <a:ext cx="3943310" cy="15027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5040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3448C56E-6B42-9771-2FC6-42438BB80B5D}"/>
              </a:ext>
            </a:extLst>
          </p:cNvPr>
          <p:cNvSpPr/>
          <p:nvPr/>
        </p:nvSpPr>
        <p:spPr>
          <a:xfrm>
            <a:off x="647700" y="676652"/>
            <a:ext cx="8229600" cy="475485"/>
          </a:xfrm>
          <a:prstGeom prst="rect">
            <a:avLst/>
          </a:prstGeom>
          <a:noFill/>
          <a:ln/>
        </p:spPr>
        <p:txBody>
          <a:bodyPr wrap="square" rtlCol="0" anchor="ctr"/>
          <a:lstStyle/>
          <a:p>
            <a:pPr marL="0" indent="0" algn="ctr">
              <a:buNone/>
            </a:pPr>
            <a:r>
              <a:rPr lang="en-US" sz="3200" b="1" dirty="0">
                <a:solidFill>
                  <a:srgbClr val="1A1A2E"/>
                </a:solidFill>
              </a:rPr>
              <a:t>Data Pre-Processing</a:t>
            </a:r>
            <a:endParaRPr lang="en-US" sz="3200" dirty="0"/>
          </a:p>
        </p:txBody>
      </p:sp>
      <p:sp>
        <p:nvSpPr>
          <p:cNvPr id="3" name="Rectangle 1">
            <a:extLst>
              <a:ext uri="{FF2B5EF4-FFF2-40B4-BE49-F238E27FC236}">
                <a16:creationId xmlns:a16="http://schemas.microsoft.com/office/drawing/2014/main" id="{65F82490-56F6-39D9-B043-61AB35CC2CDE}"/>
              </a:ext>
            </a:extLst>
          </p:cNvPr>
          <p:cNvSpPr>
            <a:spLocks noChangeArrowheads="1"/>
          </p:cNvSpPr>
          <p:nvPr/>
        </p:nvSpPr>
        <p:spPr bwMode="auto">
          <a:xfrm>
            <a:off x="502920" y="1139758"/>
            <a:ext cx="8229600" cy="3382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200" b="0" i="0" u="none" strike="noStrike" cap="none" normalizeH="0" baseline="0" dirty="0">
                <a:ln>
                  <a:noFill/>
                </a:ln>
                <a:solidFill>
                  <a:schemeClr val="tx1"/>
                </a:solidFill>
                <a:effectLst/>
                <a:latin typeface="Arial" panose="020B0604020202020204" pitchFamily="34" charset="0"/>
              </a:rPr>
              <a:t>The dataset is downloaded using the Kaggle API in the Google </a:t>
            </a:r>
            <a:r>
              <a:rPr kumimoji="0" lang="en-US" altLang="en-US" sz="1200" b="0" i="0" u="none" strike="noStrike" cap="none" normalizeH="0" baseline="0" dirty="0" err="1">
                <a:ln>
                  <a:noFill/>
                </a:ln>
                <a:solidFill>
                  <a:schemeClr val="tx1"/>
                </a:solidFill>
                <a:effectLst/>
                <a:latin typeface="Arial" panose="020B0604020202020204" pitchFamily="34" charset="0"/>
              </a:rPr>
              <a:t>Colab</a:t>
            </a:r>
            <a:r>
              <a:rPr kumimoji="0" lang="en-US" altLang="en-US" sz="1200" b="0" i="0" u="none" strike="noStrike" cap="none" normalizeH="0" baseline="0" dirty="0">
                <a:ln>
                  <a:noFill/>
                </a:ln>
                <a:solidFill>
                  <a:schemeClr val="tx1"/>
                </a:solidFill>
                <a:effectLst/>
                <a:latin typeface="Arial" panose="020B0604020202020204" pitchFamily="34" charset="0"/>
              </a:rPr>
              <a:t> environment to ensure easy access and reproducibility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200" b="0" i="0" u="none" strike="noStrike" cap="none" normalizeH="0" baseline="0" dirty="0">
                <a:ln>
                  <a:noFill/>
                </a:ln>
                <a:solidFill>
                  <a:schemeClr val="tx1"/>
                </a:solidFill>
                <a:effectLst/>
                <a:latin typeface="Arial" panose="020B0604020202020204" pitchFamily="34" charset="0"/>
              </a:rPr>
              <a:t>After downloading, the dataset is extracted and organized into a structured directory format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200" b="0" i="0" u="none" strike="noStrike" cap="none" normalizeH="0" baseline="0" dirty="0">
                <a:ln>
                  <a:noFill/>
                </a:ln>
                <a:solidFill>
                  <a:schemeClr val="tx1"/>
                </a:solidFill>
                <a:effectLst/>
                <a:latin typeface="Arial" panose="020B0604020202020204" pitchFamily="34" charset="0"/>
              </a:rPr>
              <a:t>Unnecessary nested or duplicate folders are removed to avoid confusion during model training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200" b="0" i="0" u="none" strike="noStrike" cap="none" normalizeH="0" baseline="0" dirty="0">
                <a:ln>
                  <a:noFill/>
                </a:ln>
                <a:solidFill>
                  <a:schemeClr val="tx1"/>
                </a:solidFill>
                <a:effectLst/>
                <a:latin typeface="Arial" panose="020B0604020202020204" pitchFamily="34" charset="0"/>
              </a:rPr>
              <a:t>The dataset is cleaned by merging similar subcategories of drowsiness into four main classes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200" b="0" i="0" u="none" strike="noStrike" cap="none" normalizeH="0" baseline="0" dirty="0">
                <a:ln>
                  <a:noFill/>
                </a:ln>
                <a:solidFill>
                  <a:schemeClr val="tx1"/>
                </a:solidFill>
                <a:effectLst/>
                <a:latin typeface="Arial" panose="020B0604020202020204" pitchFamily="34" charset="0"/>
              </a:rPr>
              <a:t>Class balancing is performed by reducing excess images from overrepresented classes to avoid model bias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200" b="0" i="0" u="none" strike="noStrike" cap="none" normalizeH="0" baseline="0" dirty="0">
                <a:ln>
                  <a:noFill/>
                </a:ln>
                <a:solidFill>
                  <a:schemeClr val="tx1"/>
                </a:solidFill>
                <a:effectLst/>
                <a:latin typeface="Arial" panose="020B0604020202020204" pitchFamily="34" charset="0"/>
              </a:rPr>
              <a:t>The dataset is then split into training (70%), validation (15%), and testing (15%) sets for proper model evaluation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200" b="0" i="0" u="none" strike="noStrike" cap="none" normalizeH="0" baseline="0" dirty="0">
                <a:ln>
                  <a:noFill/>
                </a:ln>
                <a:solidFill>
                  <a:schemeClr val="tx1"/>
                </a:solidFill>
                <a:effectLst/>
                <a:latin typeface="Arial" panose="020B0604020202020204" pitchFamily="34" charset="0"/>
              </a:rPr>
              <a:t>Data augmentation techniques such as rotation, flipping, zooming, and shifting are applied to increase dataset diversity and reduce overfitting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200" b="0" i="0" u="none" strike="noStrike" cap="none" normalizeH="0" baseline="0" dirty="0">
                <a:ln>
                  <a:noFill/>
                </a:ln>
                <a:solidFill>
                  <a:schemeClr val="tx1"/>
                </a:solidFill>
                <a:effectLst/>
                <a:latin typeface="Arial" panose="020B0604020202020204" pitchFamily="34" charset="0"/>
              </a:rPr>
              <a:t>Finally, all images are normalized by scaling pixel values between 0 and 1 to improve training stability and convergence </a:t>
            </a:r>
          </a:p>
        </p:txBody>
      </p:sp>
    </p:spTree>
    <p:extLst>
      <p:ext uri="{BB962C8B-B14F-4D97-AF65-F5344CB8AC3E}">
        <p14:creationId xmlns:p14="http://schemas.microsoft.com/office/powerpoint/2010/main" val="2824581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199" y="87296"/>
            <a:ext cx="8229600" cy="475485"/>
          </a:xfrm>
          <a:prstGeom prst="rect">
            <a:avLst/>
          </a:prstGeom>
          <a:noFill/>
          <a:ln/>
        </p:spPr>
        <p:txBody>
          <a:bodyPr wrap="square" rtlCol="0" anchor="ctr"/>
          <a:lstStyle/>
          <a:p>
            <a:pPr marL="0" indent="0" algn="ctr">
              <a:buNone/>
            </a:pPr>
            <a:r>
              <a:rPr lang="en-US" sz="3200" b="1" dirty="0">
                <a:solidFill>
                  <a:srgbClr val="1A1A2E"/>
                </a:solidFill>
              </a:rPr>
              <a:t>Model Building</a:t>
            </a:r>
            <a:endParaRPr lang="en-US" sz="3200" dirty="0"/>
          </a:p>
        </p:txBody>
      </p:sp>
      <p:graphicFrame>
        <p:nvGraphicFramePr>
          <p:cNvPr id="2" name="Table 1">
            <a:extLst>
              <a:ext uri="{FF2B5EF4-FFF2-40B4-BE49-F238E27FC236}">
                <a16:creationId xmlns:a16="http://schemas.microsoft.com/office/drawing/2014/main" id="{59E2D910-B5DB-71E0-6591-67008294EF86}"/>
              </a:ext>
            </a:extLst>
          </p:cNvPr>
          <p:cNvGraphicFramePr>
            <a:graphicFrameLocks noGrp="1"/>
          </p:cNvGraphicFramePr>
          <p:nvPr>
            <p:extLst>
              <p:ext uri="{D42A27DB-BD31-4B8C-83A1-F6EECF244321}">
                <p14:modId xmlns:p14="http://schemas.microsoft.com/office/powerpoint/2010/main" val="4056576836"/>
              </p:ext>
            </p:extLst>
          </p:nvPr>
        </p:nvGraphicFramePr>
        <p:xfrm>
          <a:off x="73480" y="793317"/>
          <a:ext cx="8997039" cy="3676200"/>
        </p:xfrm>
        <a:graphic>
          <a:graphicData uri="http://schemas.openxmlformats.org/drawingml/2006/table">
            <a:tbl>
              <a:tblPr>
                <a:tableStyleId>{ED083AE6-46FA-4A59-8FB0-9F97EB10719F}</a:tableStyleId>
              </a:tblPr>
              <a:tblGrid>
                <a:gridCol w="999671">
                  <a:extLst>
                    <a:ext uri="{9D8B030D-6E8A-4147-A177-3AD203B41FA5}">
                      <a16:colId xmlns:a16="http://schemas.microsoft.com/office/drawing/2014/main" val="1520423783"/>
                    </a:ext>
                  </a:extLst>
                </a:gridCol>
                <a:gridCol w="999671">
                  <a:extLst>
                    <a:ext uri="{9D8B030D-6E8A-4147-A177-3AD203B41FA5}">
                      <a16:colId xmlns:a16="http://schemas.microsoft.com/office/drawing/2014/main" val="2492615800"/>
                    </a:ext>
                  </a:extLst>
                </a:gridCol>
                <a:gridCol w="999671">
                  <a:extLst>
                    <a:ext uri="{9D8B030D-6E8A-4147-A177-3AD203B41FA5}">
                      <a16:colId xmlns:a16="http://schemas.microsoft.com/office/drawing/2014/main" val="188116045"/>
                    </a:ext>
                  </a:extLst>
                </a:gridCol>
                <a:gridCol w="999671">
                  <a:extLst>
                    <a:ext uri="{9D8B030D-6E8A-4147-A177-3AD203B41FA5}">
                      <a16:colId xmlns:a16="http://schemas.microsoft.com/office/drawing/2014/main" val="1581894004"/>
                    </a:ext>
                  </a:extLst>
                </a:gridCol>
                <a:gridCol w="999671">
                  <a:extLst>
                    <a:ext uri="{9D8B030D-6E8A-4147-A177-3AD203B41FA5}">
                      <a16:colId xmlns:a16="http://schemas.microsoft.com/office/drawing/2014/main" val="2399827465"/>
                    </a:ext>
                  </a:extLst>
                </a:gridCol>
                <a:gridCol w="999671">
                  <a:extLst>
                    <a:ext uri="{9D8B030D-6E8A-4147-A177-3AD203B41FA5}">
                      <a16:colId xmlns:a16="http://schemas.microsoft.com/office/drawing/2014/main" val="896077311"/>
                    </a:ext>
                  </a:extLst>
                </a:gridCol>
                <a:gridCol w="999671">
                  <a:extLst>
                    <a:ext uri="{9D8B030D-6E8A-4147-A177-3AD203B41FA5}">
                      <a16:colId xmlns:a16="http://schemas.microsoft.com/office/drawing/2014/main" val="4254204302"/>
                    </a:ext>
                  </a:extLst>
                </a:gridCol>
                <a:gridCol w="999671">
                  <a:extLst>
                    <a:ext uri="{9D8B030D-6E8A-4147-A177-3AD203B41FA5}">
                      <a16:colId xmlns:a16="http://schemas.microsoft.com/office/drawing/2014/main" val="3594331889"/>
                    </a:ext>
                  </a:extLst>
                </a:gridCol>
                <a:gridCol w="999671">
                  <a:extLst>
                    <a:ext uri="{9D8B030D-6E8A-4147-A177-3AD203B41FA5}">
                      <a16:colId xmlns:a16="http://schemas.microsoft.com/office/drawing/2014/main" val="1350619750"/>
                    </a:ext>
                  </a:extLst>
                </a:gridCol>
              </a:tblGrid>
              <a:tr h="318009">
                <a:tc>
                  <a:txBody>
                    <a:bodyPr/>
                    <a:lstStyle/>
                    <a:p>
                      <a:pPr algn="ctr">
                        <a:buNone/>
                      </a:pPr>
                      <a:r>
                        <a:rPr lang="en-GB" sz="1100" b="1">
                          <a:solidFill>
                            <a:schemeClr val="accent2">
                              <a:lumMod val="50000"/>
                            </a:schemeClr>
                          </a:solidFill>
                        </a:rPr>
                        <a:t>Model</a:t>
                      </a:r>
                      <a:endParaRPr lang="en-GB" sz="1100">
                        <a:solidFill>
                          <a:schemeClr val="accent2">
                            <a:lumMod val="50000"/>
                          </a:schemeClr>
                        </a:solidFill>
                      </a:endParaRPr>
                    </a:p>
                  </a:txBody>
                  <a:tcPr marL="25960" marR="25960" marT="12980" marB="12980" anchor="ctr"/>
                </a:tc>
                <a:tc>
                  <a:txBody>
                    <a:bodyPr/>
                    <a:lstStyle/>
                    <a:p>
                      <a:pPr algn="ctr">
                        <a:buNone/>
                      </a:pPr>
                      <a:r>
                        <a:rPr lang="en-GB" sz="1100" b="1">
                          <a:solidFill>
                            <a:schemeClr val="accent2">
                              <a:lumMod val="50000"/>
                            </a:schemeClr>
                          </a:solidFill>
                        </a:rPr>
                        <a:t>Architecture Type</a:t>
                      </a:r>
                      <a:endParaRPr lang="en-GB" sz="1100">
                        <a:solidFill>
                          <a:schemeClr val="accent2">
                            <a:lumMod val="50000"/>
                          </a:schemeClr>
                        </a:solidFill>
                      </a:endParaRPr>
                    </a:p>
                  </a:txBody>
                  <a:tcPr marL="25960" marR="25960" marT="12980" marB="12980" anchor="ctr"/>
                </a:tc>
                <a:tc>
                  <a:txBody>
                    <a:bodyPr/>
                    <a:lstStyle/>
                    <a:p>
                      <a:pPr algn="ctr">
                        <a:buNone/>
                      </a:pPr>
                      <a:r>
                        <a:rPr lang="en-GB" sz="1100" b="1" dirty="0">
                          <a:solidFill>
                            <a:schemeClr val="accent2">
                              <a:lumMod val="50000"/>
                            </a:schemeClr>
                          </a:solidFill>
                        </a:rPr>
                        <a:t>Key Layers / Structure</a:t>
                      </a:r>
                      <a:endParaRPr lang="en-GB" sz="1100" dirty="0">
                        <a:solidFill>
                          <a:schemeClr val="accent2">
                            <a:lumMod val="50000"/>
                          </a:schemeClr>
                        </a:solidFill>
                      </a:endParaRPr>
                    </a:p>
                  </a:txBody>
                  <a:tcPr marL="25960" marR="25960" marT="12980" marB="12980" anchor="ctr"/>
                </a:tc>
                <a:tc>
                  <a:txBody>
                    <a:bodyPr/>
                    <a:lstStyle/>
                    <a:p>
                      <a:pPr algn="ctr">
                        <a:buNone/>
                      </a:pPr>
                      <a:r>
                        <a:rPr lang="en-GB" sz="1100" b="1">
                          <a:solidFill>
                            <a:schemeClr val="accent2">
                              <a:lumMod val="50000"/>
                            </a:schemeClr>
                          </a:solidFill>
                        </a:rPr>
                        <a:t>Transfer Learning Strategy</a:t>
                      </a:r>
                      <a:endParaRPr lang="en-GB" sz="1100">
                        <a:solidFill>
                          <a:schemeClr val="accent2">
                            <a:lumMod val="50000"/>
                          </a:schemeClr>
                        </a:solidFill>
                      </a:endParaRPr>
                    </a:p>
                  </a:txBody>
                  <a:tcPr marL="25960" marR="25960" marT="12980" marB="12980" anchor="ctr"/>
                </a:tc>
                <a:tc>
                  <a:txBody>
                    <a:bodyPr/>
                    <a:lstStyle/>
                    <a:p>
                      <a:pPr algn="ctr">
                        <a:buNone/>
                      </a:pPr>
                      <a:r>
                        <a:rPr lang="en-GB" sz="1100" b="1">
                          <a:solidFill>
                            <a:schemeClr val="accent2">
                              <a:lumMod val="50000"/>
                            </a:schemeClr>
                          </a:solidFill>
                        </a:rPr>
                        <a:t>Parameter Tuning / Fine-Tuning</a:t>
                      </a:r>
                      <a:endParaRPr lang="en-GB" sz="1100">
                        <a:solidFill>
                          <a:schemeClr val="accent2">
                            <a:lumMod val="50000"/>
                          </a:schemeClr>
                        </a:solidFill>
                      </a:endParaRPr>
                    </a:p>
                  </a:txBody>
                  <a:tcPr marL="25960" marR="25960" marT="12980" marB="12980" anchor="ctr"/>
                </a:tc>
                <a:tc>
                  <a:txBody>
                    <a:bodyPr/>
                    <a:lstStyle/>
                    <a:p>
                      <a:pPr algn="ctr">
                        <a:buNone/>
                      </a:pPr>
                      <a:r>
                        <a:rPr lang="en-GB" sz="1100" b="1">
                          <a:solidFill>
                            <a:schemeClr val="accent2">
                              <a:lumMod val="50000"/>
                            </a:schemeClr>
                          </a:solidFill>
                        </a:rPr>
                        <a:t>Optimizer &amp; Loss</a:t>
                      </a:r>
                      <a:endParaRPr lang="en-GB" sz="1100">
                        <a:solidFill>
                          <a:schemeClr val="accent2">
                            <a:lumMod val="50000"/>
                          </a:schemeClr>
                        </a:solidFill>
                      </a:endParaRPr>
                    </a:p>
                  </a:txBody>
                  <a:tcPr marL="25960" marR="25960" marT="12980" marB="12980" anchor="ctr"/>
                </a:tc>
                <a:tc>
                  <a:txBody>
                    <a:bodyPr/>
                    <a:lstStyle/>
                    <a:p>
                      <a:pPr algn="ctr">
                        <a:buNone/>
                      </a:pPr>
                      <a:r>
                        <a:rPr lang="en-GB" sz="1100" b="1">
                          <a:solidFill>
                            <a:schemeClr val="accent2">
                              <a:lumMod val="50000"/>
                            </a:schemeClr>
                          </a:solidFill>
                        </a:rPr>
                        <a:t>Learning Rate</a:t>
                      </a:r>
                      <a:endParaRPr lang="en-GB" sz="1100">
                        <a:solidFill>
                          <a:schemeClr val="accent2">
                            <a:lumMod val="50000"/>
                          </a:schemeClr>
                        </a:solidFill>
                      </a:endParaRPr>
                    </a:p>
                  </a:txBody>
                  <a:tcPr marL="25960" marR="25960" marT="12980" marB="12980" anchor="ctr"/>
                </a:tc>
                <a:tc>
                  <a:txBody>
                    <a:bodyPr/>
                    <a:lstStyle/>
                    <a:p>
                      <a:pPr algn="ctr">
                        <a:buNone/>
                      </a:pPr>
                      <a:r>
                        <a:rPr lang="en-GB" sz="1100" b="1">
                          <a:solidFill>
                            <a:schemeClr val="accent2">
                              <a:lumMod val="50000"/>
                            </a:schemeClr>
                          </a:solidFill>
                        </a:rPr>
                        <a:t>Regularization</a:t>
                      </a:r>
                      <a:endParaRPr lang="en-GB" sz="1100">
                        <a:solidFill>
                          <a:schemeClr val="accent2">
                            <a:lumMod val="50000"/>
                          </a:schemeClr>
                        </a:solidFill>
                      </a:endParaRPr>
                    </a:p>
                  </a:txBody>
                  <a:tcPr marL="25960" marR="25960" marT="12980" marB="12980" anchor="ctr"/>
                </a:tc>
                <a:tc>
                  <a:txBody>
                    <a:bodyPr/>
                    <a:lstStyle/>
                    <a:p>
                      <a:pPr algn="ctr">
                        <a:buNone/>
                      </a:pPr>
                      <a:r>
                        <a:rPr lang="en-GB" sz="1100" b="1" dirty="0">
                          <a:solidFill>
                            <a:schemeClr val="accent2">
                              <a:lumMod val="50000"/>
                            </a:schemeClr>
                          </a:solidFill>
                        </a:rPr>
                        <a:t>Remarks</a:t>
                      </a:r>
                      <a:endParaRPr lang="en-GB" sz="1100" dirty="0">
                        <a:solidFill>
                          <a:schemeClr val="accent2">
                            <a:lumMod val="50000"/>
                          </a:schemeClr>
                        </a:solidFill>
                      </a:endParaRPr>
                    </a:p>
                  </a:txBody>
                  <a:tcPr marL="25960" marR="25960" marT="12980" marB="12980" anchor="ctr"/>
                </a:tc>
                <a:extLst>
                  <a:ext uri="{0D108BD9-81ED-4DB2-BD59-A6C34878D82A}">
                    <a16:rowId xmlns:a16="http://schemas.microsoft.com/office/drawing/2014/main" val="2459700026"/>
                  </a:ext>
                </a:extLst>
              </a:tr>
              <a:tr h="668467">
                <a:tc>
                  <a:txBody>
                    <a:bodyPr/>
                    <a:lstStyle/>
                    <a:p>
                      <a:pPr algn="ctr">
                        <a:buNone/>
                      </a:pPr>
                      <a:r>
                        <a:rPr lang="en-GB" sz="900" b="1"/>
                        <a:t>Custom CNN</a:t>
                      </a:r>
                      <a:endParaRPr lang="en-GB" sz="900"/>
                    </a:p>
                  </a:txBody>
                  <a:tcPr marL="25960" marR="25960" marT="12980" marB="12980" anchor="ctr"/>
                </a:tc>
                <a:tc>
                  <a:txBody>
                    <a:bodyPr/>
                    <a:lstStyle/>
                    <a:p>
                      <a:pPr algn="ctr">
                        <a:buNone/>
                      </a:pPr>
                      <a:r>
                        <a:rPr lang="en-GB" sz="900"/>
                        <a:t>Deep CNN (from scratch)</a:t>
                      </a:r>
                    </a:p>
                  </a:txBody>
                  <a:tcPr marL="25960" marR="25960" marT="12980" marB="12980" anchor="ctr"/>
                </a:tc>
                <a:tc>
                  <a:txBody>
                    <a:bodyPr/>
                    <a:lstStyle/>
                    <a:p>
                      <a:pPr algn="ctr">
                        <a:buNone/>
                      </a:pPr>
                      <a:r>
                        <a:rPr lang="en-GB" sz="900"/>
                        <a:t>Conv2D × (3–5), MaxPooling, Flatten, Dense (128–256), Dropout, Softmax</a:t>
                      </a:r>
                    </a:p>
                  </a:txBody>
                  <a:tcPr marL="25960" marR="25960" marT="12980" marB="12980" anchor="ctr"/>
                </a:tc>
                <a:tc>
                  <a:txBody>
                    <a:bodyPr/>
                    <a:lstStyle/>
                    <a:p>
                      <a:pPr algn="ctr">
                        <a:buNone/>
                      </a:pPr>
                      <a:r>
                        <a:rPr lang="en-GB" sz="900"/>
                        <a:t>Not used</a:t>
                      </a:r>
                    </a:p>
                  </a:txBody>
                  <a:tcPr marL="25960" marR="25960" marT="12980" marB="12980" anchor="ctr"/>
                </a:tc>
                <a:tc>
                  <a:txBody>
                    <a:bodyPr/>
                    <a:lstStyle/>
                    <a:p>
                      <a:pPr algn="ctr">
                        <a:buNone/>
                      </a:pPr>
                      <a:r>
                        <a:rPr lang="en-GB" sz="900"/>
                        <a:t>Kernel size tuning (3×3), filter scaling, batch size tuning, epoch tuning</a:t>
                      </a:r>
                    </a:p>
                  </a:txBody>
                  <a:tcPr marL="25960" marR="25960" marT="12980" marB="12980" anchor="ctr"/>
                </a:tc>
                <a:tc>
                  <a:txBody>
                    <a:bodyPr/>
                    <a:lstStyle/>
                    <a:p>
                      <a:pPr algn="ctr">
                        <a:buNone/>
                      </a:pPr>
                      <a:r>
                        <a:rPr lang="en-GB" sz="900"/>
                        <a:t>Adam + Categorical Cross-Entropy</a:t>
                      </a:r>
                    </a:p>
                  </a:txBody>
                  <a:tcPr marL="25960" marR="25960" marT="12980" marB="12980" anchor="ctr"/>
                </a:tc>
                <a:tc>
                  <a:txBody>
                    <a:bodyPr/>
                    <a:lstStyle/>
                    <a:p>
                      <a:pPr algn="ctr">
                        <a:buNone/>
                      </a:pPr>
                      <a:r>
                        <a:rPr lang="en-GB" sz="900"/>
                        <a:t>1e-3</a:t>
                      </a:r>
                    </a:p>
                  </a:txBody>
                  <a:tcPr marL="25960" marR="25960" marT="12980" marB="12980" anchor="ctr"/>
                </a:tc>
                <a:tc>
                  <a:txBody>
                    <a:bodyPr/>
                    <a:lstStyle/>
                    <a:p>
                      <a:pPr algn="ctr">
                        <a:buNone/>
                      </a:pPr>
                      <a:r>
                        <a:rPr lang="en-GB" sz="900"/>
                        <a:t>Dropout (0.3–0.5), Early Stopping</a:t>
                      </a:r>
                    </a:p>
                  </a:txBody>
                  <a:tcPr marL="25960" marR="25960" marT="12980" marB="12980" anchor="ctr"/>
                </a:tc>
                <a:tc>
                  <a:txBody>
                    <a:bodyPr/>
                    <a:lstStyle/>
                    <a:p>
                      <a:pPr algn="ctr">
                        <a:buNone/>
                      </a:pPr>
                      <a:r>
                        <a:rPr lang="en-GB" sz="900" dirty="0"/>
                        <a:t>Baseline model for feature learning (eyes, yawning, facial cues)</a:t>
                      </a:r>
                    </a:p>
                  </a:txBody>
                  <a:tcPr marL="25960" marR="25960" marT="12980" marB="12980" anchor="ctr"/>
                </a:tc>
                <a:extLst>
                  <a:ext uri="{0D108BD9-81ED-4DB2-BD59-A6C34878D82A}">
                    <a16:rowId xmlns:a16="http://schemas.microsoft.com/office/drawing/2014/main" val="1065932759"/>
                  </a:ext>
                </a:extLst>
              </a:tr>
              <a:tr h="434828">
                <a:tc>
                  <a:txBody>
                    <a:bodyPr/>
                    <a:lstStyle/>
                    <a:p>
                      <a:pPr algn="ctr">
                        <a:buNone/>
                      </a:pPr>
                      <a:r>
                        <a:rPr lang="en-GB" sz="900" b="1"/>
                        <a:t>MobileNetV2</a:t>
                      </a:r>
                      <a:endParaRPr lang="en-GB" sz="900"/>
                    </a:p>
                  </a:txBody>
                  <a:tcPr marL="25960" marR="25960" marT="12980" marB="12980" anchor="ctr"/>
                </a:tc>
                <a:tc>
                  <a:txBody>
                    <a:bodyPr/>
                    <a:lstStyle/>
                    <a:p>
                      <a:pPr algn="ctr">
                        <a:buNone/>
                      </a:pPr>
                      <a:r>
                        <a:rPr lang="en-GB" sz="900"/>
                        <a:t>Lightweight CNN</a:t>
                      </a:r>
                    </a:p>
                  </a:txBody>
                  <a:tcPr marL="25960" marR="25960" marT="12980" marB="12980" anchor="ctr"/>
                </a:tc>
                <a:tc>
                  <a:txBody>
                    <a:bodyPr/>
                    <a:lstStyle/>
                    <a:p>
                      <a:pPr algn="ctr">
                        <a:buNone/>
                      </a:pPr>
                      <a:r>
                        <a:rPr lang="en-GB" sz="900"/>
                        <a:t>Base + Global Average Pooling + Dense (ReLU) + Softmax</a:t>
                      </a:r>
                    </a:p>
                  </a:txBody>
                  <a:tcPr marL="25960" marR="25960" marT="12980" marB="12980" anchor="ctr"/>
                </a:tc>
                <a:tc>
                  <a:txBody>
                    <a:bodyPr/>
                    <a:lstStyle/>
                    <a:p>
                      <a:pPr algn="ctr">
                        <a:buNone/>
                      </a:pPr>
                      <a:r>
                        <a:rPr lang="en-GB" sz="900" dirty="0"/>
                        <a:t>Pretrained ImageNet</a:t>
                      </a:r>
                    </a:p>
                  </a:txBody>
                  <a:tcPr marL="25960" marR="25960" marT="12980" marB="12980" anchor="ctr"/>
                </a:tc>
                <a:tc>
                  <a:txBody>
                    <a:bodyPr/>
                    <a:lstStyle/>
                    <a:p>
                      <a:pPr algn="ctr">
                        <a:buNone/>
                      </a:pPr>
                      <a:r>
                        <a:rPr lang="en-GB" sz="900"/>
                        <a:t>Frozen base → unfreeze last 30 layers</a:t>
                      </a:r>
                    </a:p>
                  </a:txBody>
                  <a:tcPr marL="25960" marR="25960" marT="12980" marB="12980" anchor="ctr"/>
                </a:tc>
                <a:tc>
                  <a:txBody>
                    <a:bodyPr/>
                    <a:lstStyle/>
                    <a:p>
                      <a:pPr algn="ctr">
                        <a:buNone/>
                      </a:pPr>
                      <a:r>
                        <a:rPr lang="en-GB" sz="900"/>
                        <a:t>Adam + Categorical Cross-Entropy</a:t>
                      </a:r>
                    </a:p>
                  </a:txBody>
                  <a:tcPr marL="25960" marR="25960" marT="12980" marB="12980" anchor="ctr"/>
                </a:tc>
                <a:tc>
                  <a:txBody>
                    <a:bodyPr/>
                    <a:lstStyle/>
                    <a:p>
                      <a:pPr algn="ctr">
                        <a:buNone/>
                      </a:pPr>
                      <a:r>
                        <a:rPr lang="en-GB" sz="900"/>
                        <a:t>1e-4 → 1e-5 (fine-tuning)</a:t>
                      </a:r>
                    </a:p>
                  </a:txBody>
                  <a:tcPr marL="25960" marR="25960" marT="12980" marB="12980" anchor="ctr"/>
                </a:tc>
                <a:tc>
                  <a:txBody>
                    <a:bodyPr/>
                    <a:lstStyle/>
                    <a:p>
                      <a:pPr algn="ctr">
                        <a:buNone/>
                      </a:pPr>
                      <a:r>
                        <a:rPr lang="en-GB" sz="900"/>
                        <a:t>Dropout + Weight decay</a:t>
                      </a:r>
                    </a:p>
                  </a:txBody>
                  <a:tcPr marL="25960" marR="25960" marT="12980" marB="12980" anchor="ctr"/>
                </a:tc>
                <a:tc>
                  <a:txBody>
                    <a:bodyPr/>
                    <a:lstStyle/>
                    <a:p>
                      <a:pPr algn="ctr">
                        <a:buNone/>
                      </a:pPr>
                      <a:r>
                        <a:rPr lang="en-GB" sz="900"/>
                        <a:t>Optimized for real-time inference</a:t>
                      </a:r>
                    </a:p>
                  </a:txBody>
                  <a:tcPr marL="25960" marR="25960" marT="12980" marB="12980" anchor="ctr"/>
                </a:tc>
                <a:extLst>
                  <a:ext uri="{0D108BD9-81ED-4DB2-BD59-A6C34878D82A}">
                    <a16:rowId xmlns:a16="http://schemas.microsoft.com/office/drawing/2014/main" val="626594306"/>
                  </a:ext>
                </a:extLst>
              </a:tr>
              <a:tr h="610058">
                <a:tc>
                  <a:txBody>
                    <a:bodyPr/>
                    <a:lstStyle/>
                    <a:p>
                      <a:pPr algn="ctr">
                        <a:buNone/>
                      </a:pPr>
                      <a:r>
                        <a:rPr lang="en-GB" sz="900" b="1"/>
                        <a:t>VGG16</a:t>
                      </a:r>
                      <a:endParaRPr lang="en-GB" sz="900"/>
                    </a:p>
                  </a:txBody>
                  <a:tcPr marL="25960" marR="25960" marT="12980" marB="12980" anchor="ctr"/>
                </a:tc>
                <a:tc>
                  <a:txBody>
                    <a:bodyPr/>
                    <a:lstStyle/>
                    <a:p>
                      <a:pPr algn="ctr">
                        <a:buNone/>
                      </a:pPr>
                      <a:r>
                        <a:rPr lang="en-GB" sz="900"/>
                        <a:t>Deep CNN (Uniform stack)</a:t>
                      </a:r>
                    </a:p>
                  </a:txBody>
                  <a:tcPr marL="25960" marR="25960" marT="12980" marB="12980" anchor="ctr"/>
                </a:tc>
                <a:tc>
                  <a:txBody>
                    <a:bodyPr/>
                    <a:lstStyle/>
                    <a:p>
                      <a:pPr algn="ctr">
                        <a:buNone/>
                      </a:pPr>
                      <a:r>
                        <a:rPr lang="en-GB" sz="900"/>
                        <a:t>Conv blocks (3×3), MaxPooling ×5, Flatten, Dense (256), Dropout, Softmax</a:t>
                      </a:r>
                    </a:p>
                  </a:txBody>
                  <a:tcPr marL="25960" marR="25960" marT="12980" marB="12980" anchor="ctr"/>
                </a:tc>
                <a:tc>
                  <a:txBody>
                    <a:bodyPr/>
                    <a:lstStyle/>
                    <a:p>
                      <a:pPr algn="ctr">
                        <a:buNone/>
                      </a:pPr>
                      <a:r>
                        <a:rPr lang="en-GB" sz="900"/>
                        <a:t>Pretrained ImageNet</a:t>
                      </a:r>
                    </a:p>
                  </a:txBody>
                  <a:tcPr marL="25960" marR="25960" marT="12980" marB="12980" anchor="ctr"/>
                </a:tc>
                <a:tc>
                  <a:txBody>
                    <a:bodyPr/>
                    <a:lstStyle/>
                    <a:p>
                      <a:pPr algn="ctr">
                        <a:buNone/>
                      </a:pPr>
                      <a:r>
                        <a:rPr lang="en-GB" sz="900"/>
                        <a:t>Fully frozen base, classifier-only tuning</a:t>
                      </a:r>
                    </a:p>
                  </a:txBody>
                  <a:tcPr marL="25960" marR="25960" marT="12980" marB="12980" anchor="ctr"/>
                </a:tc>
                <a:tc>
                  <a:txBody>
                    <a:bodyPr/>
                    <a:lstStyle/>
                    <a:p>
                      <a:pPr algn="ctr">
                        <a:buNone/>
                      </a:pPr>
                      <a:r>
                        <a:rPr lang="en-GB" sz="900"/>
                        <a:t>Adam + Categorical Cross-Entropy</a:t>
                      </a:r>
                    </a:p>
                  </a:txBody>
                  <a:tcPr marL="25960" marR="25960" marT="12980" marB="12980" anchor="ctr"/>
                </a:tc>
                <a:tc>
                  <a:txBody>
                    <a:bodyPr/>
                    <a:lstStyle/>
                    <a:p>
                      <a:pPr algn="ctr">
                        <a:buNone/>
                      </a:pPr>
                      <a:r>
                        <a:rPr lang="en-GB" sz="900"/>
                        <a:t>1e-4</a:t>
                      </a:r>
                    </a:p>
                  </a:txBody>
                  <a:tcPr marL="25960" marR="25960" marT="12980" marB="12980" anchor="ctr"/>
                </a:tc>
                <a:tc>
                  <a:txBody>
                    <a:bodyPr/>
                    <a:lstStyle/>
                    <a:p>
                      <a:pPr algn="ctr">
                        <a:buNone/>
                      </a:pPr>
                      <a:r>
                        <a:rPr lang="en-GB" sz="900"/>
                        <a:t>Dropout (0.5)</a:t>
                      </a:r>
                    </a:p>
                  </a:txBody>
                  <a:tcPr marL="25960" marR="25960" marT="12980" marB="12980" anchor="ctr"/>
                </a:tc>
                <a:tc>
                  <a:txBody>
                    <a:bodyPr/>
                    <a:lstStyle/>
                    <a:p>
                      <a:pPr algn="ctr">
                        <a:buNone/>
                      </a:pPr>
                      <a:r>
                        <a:rPr lang="en-GB" sz="900"/>
                        <a:t>High parameter count, slow training</a:t>
                      </a:r>
                    </a:p>
                  </a:txBody>
                  <a:tcPr marL="25960" marR="25960" marT="12980" marB="12980" anchor="ctr"/>
                </a:tc>
                <a:extLst>
                  <a:ext uri="{0D108BD9-81ED-4DB2-BD59-A6C34878D82A}">
                    <a16:rowId xmlns:a16="http://schemas.microsoft.com/office/drawing/2014/main" val="1841875018"/>
                  </a:ext>
                </a:extLst>
              </a:tr>
              <a:tr h="493238">
                <a:tc>
                  <a:txBody>
                    <a:bodyPr/>
                    <a:lstStyle/>
                    <a:p>
                      <a:pPr algn="ctr">
                        <a:buNone/>
                      </a:pPr>
                      <a:r>
                        <a:rPr lang="en-GB" sz="900" b="1"/>
                        <a:t>ResNet50</a:t>
                      </a:r>
                      <a:endParaRPr lang="en-GB" sz="900"/>
                    </a:p>
                  </a:txBody>
                  <a:tcPr marL="25960" marR="25960" marT="12980" marB="12980" anchor="ctr"/>
                </a:tc>
                <a:tc>
                  <a:txBody>
                    <a:bodyPr/>
                    <a:lstStyle/>
                    <a:p>
                      <a:pPr algn="ctr">
                        <a:buNone/>
                      </a:pPr>
                      <a:r>
                        <a:rPr lang="en-GB" sz="900"/>
                        <a:t>Residual CNN</a:t>
                      </a:r>
                    </a:p>
                  </a:txBody>
                  <a:tcPr marL="25960" marR="25960" marT="12980" marB="12980" anchor="ctr"/>
                </a:tc>
                <a:tc>
                  <a:txBody>
                    <a:bodyPr/>
                    <a:lstStyle/>
                    <a:p>
                      <a:pPr algn="ctr">
                        <a:buNone/>
                      </a:pPr>
                      <a:r>
                        <a:rPr lang="en-GB" sz="900"/>
                        <a:t>Residual blocks + Skip Connections + GAP + Dense + Softmax</a:t>
                      </a:r>
                    </a:p>
                  </a:txBody>
                  <a:tcPr marL="25960" marR="25960" marT="12980" marB="12980" anchor="ctr"/>
                </a:tc>
                <a:tc>
                  <a:txBody>
                    <a:bodyPr/>
                    <a:lstStyle/>
                    <a:p>
                      <a:pPr algn="ctr">
                        <a:buNone/>
                      </a:pPr>
                      <a:r>
                        <a:rPr lang="en-GB" sz="900"/>
                        <a:t>Pretrained ImageNet</a:t>
                      </a:r>
                    </a:p>
                  </a:txBody>
                  <a:tcPr marL="25960" marR="25960" marT="12980" marB="12980" anchor="ctr"/>
                </a:tc>
                <a:tc>
                  <a:txBody>
                    <a:bodyPr/>
                    <a:lstStyle/>
                    <a:p>
                      <a:pPr algn="ctr">
                        <a:buNone/>
                      </a:pPr>
                      <a:r>
                        <a:rPr lang="en-GB" sz="900"/>
                        <a:t>Partial fine-tuning (last layers)</a:t>
                      </a:r>
                    </a:p>
                  </a:txBody>
                  <a:tcPr marL="25960" marR="25960" marT="12980" marB="12980" anchor="ctr"/>
                </a:tc>
                <a:tc>
                  <a:txBody>
                    <a:bodyPr/>
                    <a:lstStyle/>
                    <a:p>
                      <a:pPr algn="ctr">
                        <a:buNone/>
                      </a:pPr>
                      <a:r>
                        <a:rPr lang="en-GB" sz="900"/>
                        <a:t>Adam + Categorical Cross-Entropy</a:t>
                      </a:r>
                    </a:p>
                  </a:txBody>
                  <a:tcPr marL="25960" marR="25960" marT="12980" marB="12980" anchor="ctr"/>
                </a:tc>
                <a:tc>
                  <a:txBody>
                    <a:bodyPr/>
                    <a:lstStyle/>
                    <a:p>
                      <a:pPr algn="ctr">
                        <a:buNone/>
                      </a:pPr>
                      <a:r>
                        <a:rPr lang="en-GB" sz="900"/>
                        <a:t>1e-4</a:t>
                      </a:r>
                    </a:p>
                  </a:txBody>
                  <a:tcPr marL="25960" marR="25960" marT="12980" marB="12980" anchor="ctr"/>
                </a:tc>
                <a:tc>
                  <a:txBody>
                    <a:bodyPr/>
                    <a:lstStyle/>
                    <a:p>
                      <a:pPr algn="ctr">
                        <a:buNone/>
                      </a:pPr>
                      <a:r>
                        <a:rPr lang="en-GB" sz="900"/>
                        <a:t>Batch Normalization + Dropout</a:t>
                      </a:r>
                    </a:p>
                  </a:txBody>
                  <a:tcPr marL="25960" marR="25960" marT="12980" marB="12980" anchor="ctr"/>
                </a:tc>
                <a:tc>
                  <a:txBody>
                    <a:bodyPr/>
                    <a:lstStyle/>
                    <a:p>
                      <a:pPr algn="ctr">
                        <a:buNone/>
                      </a:pPr>
                      <a:r>
                        <a:rPr lang="en-GB" sz="900"/>
                        <a:t>Stable gradients, slower convergence</a:t>
                      </a:r>
                    </a:p>
                  </a:txBody>
                  <a:tcPr marL="25960" marR="25960" marT="12980" marB="12980" anchor="ctr"/>
                </a:tc>
                <a:extLst>
                  <a:ext uri="{0D108BD9-81ED-4DB2-BD59-A6C34878D82A}">
                    <a16:rowId xmlns:a16="http://schemas.microsoft.com/office/drawing/2014/main" val="3277485173"/>
                  </a:ext>
                </a:extLst>
              </a:tr>
              <a:tr h="493238">
                <a:tc>
                  <a:txBody>
                    <a:bodyPr/>
                    <a:lstStyle/>
                    <a:p>
                      <a:pPr algn="ctr">
                        <a:buNone/>
                      </a:pPr>
                      <a:r>
                        <a:rPr lang="en-GB" sz="900" b="1"/>
                        <a:t>DenseNet201</a:t>
                      </a:r>
                      <a:endParaRPr lang="en-GB" sz="900"/>
                    </a:p>
                  </a:txBody>
                  <a:tcPr marL="25960" marR="25960" marT="12980" marB="12980" anchor="ctr"/>
                </a:tc>
                <a:tc>
                  <a:txBody>
                    <a:bodyPr/>
                    <a:lstStyle/>
                    <a:p>
                      <a:pPr algn="ctr">
                        <a:buNone/>
                      </a:pPr>
                      <a:r>
                        <a:rPr lang="en-GB" sz="900"/>
                        <a:t>Dense Connectivity CNN</a:t>
                      </a:r>
                    </a:p>
                  </a:txBody>
                  <a:tcPr marL="25960" marR="25960" marT="12980" marB="12980" anchor="ctr"/>
                </a:tc>
                <a:tc>
                  <a:txBody>
                    <a:bodyPr/>
                    <a:lstStyle/>
                    <a:p>
                      <a:pPr algn="ctr">
                        <a:buNone/>
                      </a:pPr>
                      <a:r>
                        <a:rPr lang="en-GB" sz="900"/>
                        <a:t>Dense blocks + Transition layers + GAP + Dense (512) + Softmax</a:t>
                      </a:r>
                    </a:p>
                  </a:txBody>
                  <a:tcPr marL="25960" marR="25960" marT="12980" marB="12980" anchor="ctr"/>
                </a:tc>
                <a:tc>
                  <a:txBody>
                    <a:bodyPr/>
                    <a:lstStyle/>
                    <a:p>
                      <a:pPr algn="ctr">
                        <a:buNone/>
                      </a:pPr>
                      <a:r>
                        <a:rPr lang="en-GB" sz="900" dirty="0"/>
                        <a:t>Pretrained ImageNet</a:t>
                      </a:r>
                    </a:p>
                  </a:txBody>
                  <a:tcPr marL="25960" marR="25960" marT="12980" marB="12980" anchor="ctr"/>
                </a:tc>
                <a:tc>
                  <a:txBody>
                    <a:bodyPr/>
                    <a:lstStyle/>
                    <a:p>
                      <a:pPr algn="ctr">
                        <a:buNone/>
                      </a:pPr>
                      <a:r>
                        <a:rPr lang="en-GB" sz="900"/>
                        <a:t>Frozen base + classifier head tuning</a:t>
                      </a:r>
                    </a:p>
                  </a:txBody>
                  <a:tcPr marL="25960" marR="25960" marT="12980" marB="12980" anchor="ctr"/>
                </a:tc>
                <a:tc>
                  <a:txBody>
                    <a:bodyPr/>
                    <a:lstStyle/>
                    <a:p>
                      <a:pPr algn="ctr">
                        <a:buNone/>
                      </a:pPr>
                      <a:r>
                        <a:rPr lang="en-GB" sz="900"/>
                        <a:t>Adam + Categorical Cross-Entropy</a:t>
                      </a:r>
                    </a:p>
                  </a:txBody>
                  <a:tcPr marL="25960" marR="25960" marT="12980" marB="12980" anchor="ctr"/>
                </a:tc>
                <a:tc>
                  <a:txBody>
                    <a:bodyPr/>
                    <a:lstStyle/>
                    <a:p>
                      <a:pPr algn="ctr">
                        <a:buNone/>
                      </a:pPr>
                      <a:r>
                        <a:rPr lang="en-GB" sz="900"/>
                        <a:t>1e-4</a:t>
                      </a:r>
                    </a:p>
                  </a:txBody>
                  <a:tcPr marL="25960" marR="25960" marT="12980" marB="12980" anchor="ctr"/>
                </a:tc>
                <a:tc>
                  <a:txBody>
                    <a:bodyPr/>
                    <a:lstStyle/>
                    <a:p>
                      <a:pPr algn="ctr">
                        <a:buNone/>
                      </a:pPr>
                      <a:r>
                        <a:rPr lang="en-GB" sz="900"/>
                        <a:t>Dropout (0.5)</a:t>
                      </a:r>
                    </a:p>
                  </a:txBody>
                  <a:tcPr marL="25960" marR="25960" marT="12980" marB="12980" anchor="ctr"/>
                </a:tc>
                <a:tc>
                  <a:txBody>
                    <a:bodyPr/>
                    <a:lstStyle/>
                    <a:p>
                      <a:pPr algn="ctr">
                        <a:buNone/>
                      </a:pPr>
                      <a:r>
                        <a:rPr lang="en-GB" sz="900" dirty="0"/>
                        <a:t>Strong feature reuse, better gradient flow</a:t>
                      </a:r>
                    </a:p>
                  </a:txBody>
                  <a:tcPr marL="25960" marR="25960" marT="12980" marB="12980" anchor="ctr"/>
                </a:tc>
                <a:extLst>
                  <a:ext uri="{0D108BD9-81ED-4DB2-BD59-A6C34878D82A}">
                    <a16:rowId xmlns:a16="http://schemas.microsoft.com/office/drawing/2014/main" val="752371849"/>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650748"/>
            <a:ext cx="8229600" cy="502920"/>
          </a:xfrm>
          <a:prstGeom prst="rect">
            <a:avLst/>
          </a:prstGeom>
          <a:noFill/>
          <a:ln/>
        </p:spPr>
        <p:txBody>
          <a:bodyPr wrap="square" rtlCol="0" anchor="ctr"/>
          <a:lstStyle/>
          <a:p>
            <a:pPr marL="0" indent="0" algn="ctr">
              <a:buNone/>
            </a:pPr>
            <a:r>
              <a:rPr lang="en-US" sz="3200" b="1" dirty="0">
                <a:solidFill>
                  <a:srgbClr val="1A1A2E"/>
                </a:solidFill>
              </a:rPr>
              <a:t>Results</a:t>
            </a:r>
            <a:endParaRPr lang="en-US" sz="3200" dirty="0"/>
          </a:p>
        </p:txBody>
      </p:sp>
      <p:graphicFrame>
        <p:nvGraphicFramePr>
          <p:cNvPr id="2" name="Table 1">
            <a:extLst>
              <a:ext uri="{FF2B5EF4-FFF2-40B4-BE49-F238E27FC236}">
                <a16:creationId xmlns:a16="http://schemas.microsoft.com/office/drawing/2014/main" id="{CD3CCD58-4C49-B42D-41E7-31E940CFB803}"/>
              </a:ext>
            </a:extLst>
          </p:cNvPr>
          <p:cNvGraphicFramePr>
            <a:graphicFrameLocks noGrp="1"/>
          </p:cNvGraphicFramePr>
          <p:nvPr>
            <p:extLst>
              <p:ext uri="{D42A27DB-BD31-4B8C-83A1-F6EECF244321}">
                <p14:modId xmlns:p14="http://schemas.microsoft.com/office/powerpoint/2010/main" val="266175707"/>
              </p:ext>
            </p:extLst>
          </p:nvPr>
        </p:nvGraphicFramePr>
        <p:xfrm>
          <a:off x="1118507" y="1763486"/>
          <a:ext cx="7451725" cy="2202942"/>
        </p:xfrm>
        <a:graphic>
          <a:graphicData uri="http://schemas.openxmlformats.org/drawingml/2006/table">
            <a:tbl>
              <a:tblPr firstRow="1" firstCol="1" bandRow="1">
                <a:tableStyleId>{5C22544A-7EE6-4342-B048-85BDC9FD1C3A}</a:tableStyleId>
              </a:tblPr>
              <a:tblGrid>
                <a:gridCol w="1490345">
                  <a:extLst>
                    <a:ext uri="{9D8B030D-6E8A-4147-A177-3AD203B41FA5}">
                      <a16:colId xmlns:a16="http://schemas.microsoft.com/office/drawing/2014/main" val="2032450962"/>
                    </a:ext>
                  </a:extLst>
                </a:gridCol>
                <a:gridCol w="1490345">
                  <a:extLst>
                    <a:ext uri="{9D8B030D-6E8A-4147-A177-3AD203B41FA5}">
                      <a16:colId xmlns:a16="http://schemas.microsoft.com/office/drawing/2014/main" val="3059713899"/>
                    </a:ext>
                  </a:extLst>
                </a:gridCol>
                <a:gridCol w="1490345">
                  <a:extLst>
                    <a:ext uri="{9D8B030D-6E8A-4147-A177-3AD203B41FA5}">
                      <a16:colId xmlns:a16="http://schemas.microsoft.com/office/drawing/2014/main" val="3687524535"/>
                    </a:ext>
                  </a:extLst>
                </a:gridCol>
                <a:gridCol w="1490345">
                  <a:extLst>
                    <a:ext uri="{9D8B030D-6E8A-4147-A177-3AD203B41FA5}">
                      <a16:colId xmlns:a16="http://schemas.microsoft.com/office/drawing/2014/main" val="2339295223"/>
                    </a:ext>
                  </a:extLst>
                </a:gridCol>
                <a:gridCol w="1490345">
                  <a:extLst>
                    <a:ext uri="{9D8B030D-6E8A-4147-A177-3AD203B41FA5}">
                      <a16:colId xmlns:a16="http://schemas.microsoft.com/office/drawing/2014/main" val="4228316983"/>
                    </a:ext>
                  </a:extLst>
                </a:gridCol>
              </a:tblGrid>
              <a:tr h="310685">
                <a:tc>
                  <a:txBody>
                    <a:bodyPr/>
                    <a:lstStyle/>
                    <a:p>
                      <a:pPr algn="just">
                        <a:lnSpc>
                          <a:spcPct val="150000"/>
                        </a:lnSpc>
                        <a:spcAft>
                          <a:spcPts val="1000"/>
                        </a:spcAft>
                        <a:buNone/>
                      </a:pPr>
                      <a:r>
                        <a:rPr lang="en-GB" sz="1800">
                          <a:effectLst/>
                        </a:rPr>
                        <a:t>Model</a:t>
                      </a:r>
                      <a:endParaRPr lang="en-GB" sz="1800">
                        <a:effectLst/>
                        <a:latin typeface="Cambria" panose="02040503050406030204" pitchFamily="18" charset="0"/>
                        <a:ea typeface="PMingLiU" panose="02020500000000000000" pitchFamily="18" charset="-12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en-GB" sz="1800">
                          <a:effectLst/>
                        </a:rPr>
                        <a:t>Accuracy</a:t>
                      </a:r>
                      <a:endParaRPr lang="en-GB" sz="1800">
                        <a:effectLst/>
                        <a:latin typeface="Cambria" panose="02040503050406030204" pitchFamily="18" charset="0"/>
                        <a:ea typeface="PMingLiU" panose="02020500000000000000" pitchFamily="18" charset="-12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en-GB" sz="1800">
                          <a:effectLst/>
                        </a:rPr>
                        <a:t>Precision</a:t>
                      </a:r>
                      <a:endParaRPr lang="en-GB" sz="1800">
                        <a:effectLst/>
                        <a:latin typeface="Cambria" panose="02040503050406030204" pitchFamily="18" charset="0"/>
                        <a:ea typeface="PMingLiU" panose="02020500000000000000" pitchFamily="18" charset="-12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en-GB" sz="1800">
                          <a:effectLst/>
                        </a:rPr>
                        <a:t>Recall</a:t>
                      </a:r>
                      <a:endParaRPr lang="en-GB" sz="1800">
                        <a:effectLst/>
                        <a:latin typeface="Cambria" panose="02040503050406030204" pitchFamily="18" charset="0"/>
                        <a:ea typeface="PMingLiU" panose="02020500000000000000" pitchFamily="18" charset="-12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en-GB" sz="1800">
                          <a:effectLst/>
                        </a:rPr>
                        <a:t>F1-Score</a:t>
                      </a:r>
                      <a:endParaRPr lang="en-GB" sz="1800">
                        <a:effectLst/>
                        <a:latin typeface="Cambria" panose="02040503050406030204" pitchFamily="18" charset="0"/>
                        <a:ea typeface="PMingLiU"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279272145"/>
                  </a:ext>
                </a:extLst>
              </a:tr>
              <a:tr h="310685">
                <a:tc>
                  <a:txBody>
                    <a:bodyPr/>
                    <a:lstStyle/>
                    <a:p>
                      <a:pPr algn="just">
                        <a:lnSpc>
                          <a:spcPct val="150000"/>
                        </a:lnSpc>
                        <a:spcAft>
                          <a:spcPts val="1000"/>
                        </a:spcAft>
                        <a:buNone/>
                      </a:pPr>
                      <a:r>
                        <a:rPr lang="en-GB" sz="1800">
                          <a:effectLst/>
                        </a:rPr>
                        <a:t>Custom CNN</a:t>
                      </a:r>
                      <a:endParaRPr lang="en-GB" sz="1800">
                        <a:effectLst/>
                        <a:latin typeface="Cambria" panose="02040503050406030204" pitchFamily="18" charset="0"/>
                        <a:ea typeface="PMingLiU" panose="02020500000000000000" pitchFamily="18" charset="-12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en-GB" sz="1800">
                          <a:effectLst/>
                        </a:rPr>
                        <a:t>0.8053</a:t>
                      </a:r>
                      <a:endParaRPr lang="en-GB" sz="1800">
                        <a:effectLst/>
                        <a:latin typeface="Cambria" panose="02040503050406030204" pitchFamily="18" charset="0"/>
                        <a:ea typeface="PMingLiU" panose="02020500000000000000" pitchFamily="18" charset="-12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en-GB" sz="1800">
                          <a:effectLst/>
                        </a:rPr>
                        <a:t>0.8171</a:t>
                      </a:r>
                      <a:endParaRPr lang="en-GB" sz="1800">
                        <a:effectLst/>
                        <a:latin typeface="Cambria" panose="02040503050406030204" pitchFamily="18" charset="0"/>
                        <a:ea typeface="PMingLiU" panose="02020500000000000000" pitchFamily="18" charset="-12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en-GB" sz="1800">
                          <a:effectLst/>
                        </a:rPr>
                        <a:t>0.8053</a:t>
                      </a:r>
                      <a:endParaRPr lang="en-GB" sz="1800">
                        <a:effectLst/>
                        <a:latin typeface="Cambria" panose="02040503050406030204" pitchFamily="18" charset="0"/>
                        <a:ea typeface="PMingLiU" panose="02020500000000000000" pitchFamily="18" charset="-12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en-GB" sz="1800">
                          <a:effectLst/>
                        </a:rPr>
                        <a:t>0.8024</a:t>
                      </a:r>
                      <a:endParaRPr lang="en-GB" sz="1800">
                        <a:effectLst/>
                        <a:latin typeface="Cambria" panose="02040503050406030204" pitchFamily="18" charset="0"/>
                        <a:ea typeface="PMingLiU"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339581818"/>
                  </a:ext>
                </a:extLst>
              </a:tr>
              <a:tr h="310685">
                <a:tc>
                  <a:txBody>
                    <a:bodyPr/>
                    <a:lstStyle/>
                    <a:p>
                      <a:pPr algn="just">
                        <a:lnSpc>
                          <a:spcPct val="150000"/>
                        </a:lnSpc>
                        <a:spcAft>
                          <a:spcPts val="1000"/>
                        </a:spcAft>
                        <a:buNone/>
                      </a:pPr>
                      <a:r>
                        <a:rPr lang="en-GB" sz="1800">
                          <a:effectLst/>
                        </a:rPr>
                        <a:t>MobileNetV2</a:t>
                      </a:r>
                      <a:endParaRPr lang="en-GB" sz="1800">
                        <a:effectLst/>
                        <a:latin typeface="Cambria" panose="02040503050406030204" pitchFamily="18" charset="0"/>
                        <a:ea typeface="PMingLiU" panose="02020500000000000000" pitchFamily="18" charset="-12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en-GB" sz="1800">
                          <a:effectLst/>
                        </a:rPr>
                        <a:t>0.6298</a:t>
                      </a:r>
                      <a:endParaRPr lang="en-GB" sz="1800">
                        <a:effectLst/>
                        <a:latin typeface="Cambria" panose="02040503050406030204" pitchFamily="18" charset="0"/>
                        <a:ea typeface="PMingLiU" panose="02020500000000000000" pitchFamily="18" charset="-12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en-GB" sz="1800">
                          <a:effectLst/>
                        </a:rPr>
                        <a:t>0.7045</a:t>
                      </a:r>
                      <a:endParaRPr lang="en-GB" sz="1800">
                        <a:effectLst/>
                        <a:latin typeface="Cambria" panose="02040503050406030204" pitchFamily="18" charset="0"/>
                        <a:ea typeface="PMingLiU" panose="02020500000000000000" pitchFamily="18" charset="-12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en-GB" sz="1800">
                          <a:effectLst/>
                        </a:rPr>
                        <a:t>0.6298</a:t>
                      </a:r>
                      <a:endParaRPr lang="en-GB" sz="1800">
                        <a:effectLst/>
                        <a:latin typeface="Cambria" panose="02040503050406030204" pitchFamily="18" charset="0"/>
                        <a:ea typeface="PMingLiU" panose="02020500000000000000" pitchFamily="18" charset="-12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en-GB" sz="1800">
                          <a:effectLst/>
                        </a:rPr>
                        <a:t>0.5944</a:t>
                      </a:r>
                      <a:endParaRPr lang="en-GB" sz="1800">
                        <a:effectLst/>
                        <a:latin typeface="Cambria" panose="02040503050406030204" pitchFamily="18" charset="0"/>
                        <a:ea typeface="PMingLiU"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586253817"/>
                  </a:ext>
                </a:extLst>
              </a:tr>
              <a:tr h="310685">
                <a:tc>
                  <a:txBody>
                    <a:bodyPr/>
                    <a:lstStyle/>
                    <a:p>
                      <a:pPr algn="just">
                        <a:lnSpc>
                          <a:spcPct val="150000"/>
                        </a:lnSpc>
                        <a:spcAft>
                          <a:spcPts val="1000"/>
                        </a:spcAft>
                        <a:buNone/>
                      </a:pPr>
                      <a:r>
                        <a:rPr lang="en-GB" sz="1800">
                          <a:effectLst/>
                        </a:rPr>
                        <a:t>DenseNet201</a:t>
                      </a:r>
                      <a:endParaRPr lang="en-GB" sz="1800">
                        <a:effectLst/>
                        <a:latin typeface="Cambria" panose="02040503050406030204" pitchFamily="18" charset="0"/>
                        <a:ea typeface="PMingLiU" panose="02020500000000000000" pitchFamily="18" charset="-12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en-GB" sz="1800">
                          <a:effectLst/>
                        </a:rPr>
                        <a:t>0.6719</a:t>
                      </a:r>
                      <a:endParaRPr lang="en-GB" sz="1800">
                        <a:effectLst/>
                        <a:latin typeface="Cambria" panose="02040503050406030204" pitchFamily="18" charset="0"/>
                        <a:ea typeface="PMingLiU" panose="02020500000000000000" pitchFamily="18" charset="-12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en-GB" sz="1800">
                          <a:effectLst/>
                        </a:rPr>
                        <a:t>0.7161</a:t>
                      </a:r>
                      <a:endParaRPr lang="en-GB" sz="1800">
                        <a:effectLst/>
                        <a:latin typeface="Cambria" panose="02040503050406030204" pitchFamily="18" charset="0"/>
                        <a:ea typeface="PMingLiU" panose="02020500000000000000" pitchFamily="18" charset="-12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en-GB" sz="1800">
                          <a:effectLst/>
                        </a:rPr>
                        <a:t>0.6719</a:t>
                      </a:r>
                      <a:endParaRPr lang="en-GB" sz="1800">
                        <a:effectLst/>
                        <a:latin typeface="Cambria" panose="02040503050406030204" pitchFamily="18" charset="0"/>
                        <a:ea typeface="PMingLiU" panose="02020500000000000000" pitchFamily="18" charset="-12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en-GB" sz="1800">
                          <a:effectLst/>
                        </a:rPr>
                        <a:t>0.6496</a:t>
                      </a:r>
                      <a:endParaRPr lang="en-GB" sz="1800">
                        <a:effectLst/>
                        <a:latin typeface="Cambria" panose="02040503050406030204" pitchFamily="18" charset="0"/>
                        <a:ea typeface="PMingLiU"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237927097"/>
                  </a:ext>
                </a:extLst>
              </a:tr>
              <a:tr h="310685">
                <a:tc>
                  <a:txBody>
                    <a:bodyPr/>
                    <a:lstStyle/>
                    <a:p>
                      <a:pPr algn="just">
                        <a:lnSpc>
                          <a:spcPct val="150000"/>
                        </a:lnSpc>
                        <a:spcAft>
                          <a:spcPts val="1000"/>
                        </a:spcAft>
                        <a:buNone/>
                      </a:pPr>
                      <a:r>
                        <a:rPr lang="en-GB" sz="1800">
                          <a:effectLst/>
                        </a:rPr>
                        <a:t>VGG16</a:t>
                      </a:r>
                      <a:endParaRPr lang="en-GB" sz="1800">
                        <a:effectLst/>
                        <a:latin typeface="Cambria" panose="02040503050406030204" pitchFamily="18" charset="0"/>
                        <a:ea typeface="PMingLiU" panose="02020500000000000000" pitchFamily="18" charset="-12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en-GB" sz="1800">
                          <a:effectLst/>
                        </a:rPr>
                        <a:t>0.4582</a:t>
                      </a:r>
                      <a:endParaRPr lang="en-GB" sz="1800">
                        <a:effectLst/>
                        <a:latin typeface="Cambria" panose="02040503050406030204" pitchFamily="18" charset="0"/>
                        <a:ea typeface="PMingLiU" panose="02020500000000000000" pitchFamily="18" charset="-12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en-GB" sz="1800">
                          <a:effectLst/>
                        </a:rPr>
                        <a:t>0.5915</a:t>
                      </a:r>
                      <a:endParaRPr lang="en-GB" sz="1800">
                        <a:effectLst/>
                        <a:latin typeface="Cambria" panose="02040503050406030204" pitchFamily="18" charset="0"/>
                        <a:ea typeface="PMingLiU" panose="02020500000000000000" pitchFamily="18" charset="-12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en-GB" sz="1800">
                          <a:effectLst/>
                        </a:rPr>
                        <a:t>0.4582</a:t>
                      </a:r>
                      <a:endParaRPr lang="en-GB" sz="1800">
                        <a:effectLst/>
                        <a:latin typeface="Cambria" panose="02040503050406030204" pitchFamily="18" charset="0"/>
                        <a:ea typeface="PMingLiU" panose="02020500000000000000" pitchFamily="18" charset="-12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en-GB" sz="1800">
                          <a:effectLst/>
                        </a:rPr>
                        <a:t>0.4308</a:t>
                      </a:r>
                      <a:endParaRPr lang="en-GB" sz="1800">
                        <a:effectLst/>
                        <a:latin typeface="Cambria" panose="02040503050406030204" pitchFamily="18" charset="0"/>
                        <a:ea typeface="PMingLiU"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2881670543"/>
                  </a:ext>
                </a:extLst>
              </a:tr>
              <a:tr h="310685">
                <a:tc>
                  <a:txBody>
                    <a:bodyPr/>
                    <a:lstStyle/>
                    <a:p>
                      <a:pPr algn="just">
                        <a:lnSpc>
                          <a:spcPct val="150000"/>
                        </a:lnSpc>
                        <a:spcAft>
                          <a:spcPts val="1000"/>
                        </a:spcAft>
                        <a:buNone/>
                      </a:pPr>
                      <a:r>
                        <a:rPr lang="en-GB" sz="1800">
                          <a:effectLst/>
                        </a:rPr>
                        <a:t>ResNet50</a:t>
                      </a:r>
                      <a:endParaRPr lang="en-GB" sz="1800">
                        <a:effectLst/>
                        <a:latin typeface="Cambria" panose="02040503050406030204" pitchFamily="18" charset="0"/>
                        <a:ea typeface="PMingLiU" panose="02020500000000000000" pitchFamily="18" charset="-12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en-GB" sz="1800">
                          <a:effectLst/>
                        </a:rPr>
                        <a:t>0.2681</a:t>
                      </a:r>
                      <a:endParaRPr lang="en-GB" sz="1800">
                        <a:effectLst/>
                        <a:latin typeface="Cambria" panose="02040503050406030204" pitchFamily="18" charset="0"/>
                        <a:ea typeface="PMingLiU" panose="02020500000000000000" pitchFamily="18" charset="-12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en-GB" sz="1800">
                          <a:effectLst/>
                        </a:rPr>
                        <a:t>0.1476</a:t>
                      </a:r>
                      <a:endParaRPr lang="en-GB" sz="1800">
                        <a:effectLst/>
                        <a:latin typeface="Cambria" panose="02040503050406030204" pitchFamily="18" charset="0"/>
                        <a:ea typeface="PMingLiU" panose="02020500000000000000" pitchFamily="18" charset="-12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en-GB" sz="1800">
                          <a:effectLst/>
                        </a:rPr>
                        <a:t>0.2681</a:t>
                      </a:r>
                      <a:endParaRPr lang="en-GB" sz="1800">
                        <a:effectLst/>
                        <a:latin typeface="Cambria" panose="02040503050406030204" pitchFamily="18" charset="0"/>
                        <a:ea typeface="PMingLiU" panose="02020500000000000000" pitchFamily="18" charset="-12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en-GB" sz="1800" dirty="0">
                          <a:effectLst/>
                        </a:rPr>
                        <a:t>0.1507</a:t>
                      </a:r>
                      <a:endParaRPr lang="en-GB" sz="1800" dirty="0">
                        <a:effectLst/>
                        <a:latin typeface="Cambria" panose="02040503050406030204" pitchFamily="18" charset="0"/>
                        <a:ea typeface="PMingLiU"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367654834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a:extLst>
              <a:ext uri="{FF2B5EF4-FFF2-40B4-BE49-F238E27FC236}">
                <a16:creationId xmlns:a16="http://schemas.microsoft.com/office/drawing/2014/main" id="{74F4CE66-36D1-434F-CA37-6141A5DDF2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 y="769620"/>
            <a:ext cx="1991896" cy="2104548"/>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a:extLst>
              <a:ext uri="{FF2B5EF4-FFF2-40B4-BE49-F238E27FC236}">
                <a16:creationId xmlns:a16="http://schemas.microsoft.com/office/drawing/2014/main" id="{39E1375B-FEFB-C581-4B94-630F4A8732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3034" y="729376"/>
            <a:ext cx="1991896" cy="2104548"/>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a:extLst>
              <a:ext uri="{FF2B5EF4-FFF2-40B4-BE49-F238E27FC236}">
                <a16:creationId xmlns:a16="http://schemas.microsoft.com/office/drawing/2014/main" id="{A9D5B327-BE26-E3C7-760A-167CF0F83E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0426" y="803910"/>
            <a:ext cx="2012378" cy="2104548"/>
          </a:xfrm>
          <a:prstGeom prst="rect">
            <a:avLst/>
          </a:prstGeom>
          <a:noFill/>
          <a:extLst>
            <a:ext uri="{909E8E84-426E-40DD-AFC4-6F175D3DCCD1}">
              <a14:hiddenFill xmlns:a14="http://schemas.microsoft.com/office/drawing/2010/main">
                <a:solidFill>
                  <a:srgbClr val="FFFFFF"/>
                </a:solidFill>
              </a14:hiddenFill>
            </a:ext>
          </a:extLst>
        </p:spPr>
      </p:pic>
      <p:pic>
        <p:nvPicPr>
          <p:cNvPr id="11272" name="Picture 8">
            <a:extLst>
              <a:ext uri="{FF2B5EF4-FFF2-40B4-BE49-F238E27FC236}">
                <a16:creationId xmlns:a16="http://schemas.microsoft.com/office/drawing/2014/main" id="{61E56CF4-1A5B-16F6-6BCC-597036B7845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16860" y="803910"/>
            <a:ext cx="1898140" cy="2005490"/>
          </a:xfrm>
          <a:prstGeom prst="rect">
            <a:avLst/>
          </a:prstGeom>
          <a:noFill/>
          <a:extLst>
            <a:ext uri="{909E8E84-426E-40DD-AFC4-6F175D3DCCD1}">
              <a14:hiddenFill xmlns:a14="http://schemas.microsoft.com/office/drawing/2010/main">
                <a:solidFill>
                  <a:srgbClr val="FFFFFF"/>
                </a:solidFill>
              </a14:hiddenFill>
            </a:ext>
          </a:extLst>
        </p:spPr>
      </p:pic>
      <p:pic>
        <p:nvPicPr>
          <p:cNvPr id="11274" name="Picture 10">
            <a:extLst>
              <a:ext uri="{FF2B5EF4-FFF2-40B4-BE49-F238E27FC236}">
                <a16:creationId xmlns:a16="http://schemas.microsoft.com/office/drawing/2014/main" id="{6B4CA47E-B316-5CB6-3A05-AB1769214C7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76935" y="2908458"/>
            <a:ext cx="2140392" cy="2104548"/>
          </a:xfrm>
          <a:prstGeom prst="rect">
            <a:avLst/>
          </a:prstGeom>
          <a:noFill/>
          <a:extLst>
            <a:ext uri="{909E8E84-426E-40DD-AFC4-6F175D3DCCD1}">
              <a14:hiddenFill xmlns:a14="http://schemas.microsoft.com/office/drawing/2010/main">
                <a:solidFill>
                  <a:srgbClr val="FFFFFF"/>
                </a:solidFill>
              </a14:hiddenFill>
            </a:ext>
          </a:extLst>
        </p:spPr>
      </p:pic>
      <p:pic>
        <p:nvPicPr>
          <p:cNvPr id="11276" name="Picture 12">
            <a:extLst>
              <a:ext uri="{FF2B5EF4-FFF2-40B4-BE49-F238E27FC236}">
                <a16:creationId xmlns:a16="http://schemas.microsoft.com/office/drawing/2014/main" id="{3339DD1C-208B-A8AB-BE2B-6C7A787F0F2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14331" y="2908458"/>
            <a:ext cx="2140392" cy="210454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8E30174-1559-633B-1395-FBBFC939857B}"/>
              </a:ext>
            </a:extLst>
          </p:cNvPr>
          <p:cNvSpPr txBox="1"/>
          <p:nvPr/>
        </p:nvSpPr>
        <p:spPr>
          <a:xfrm>
            <a:off x="1747157" y="39766"/>
            <a:ext cx="6066064" cy="523220"/>
          </a:xfrm>
          <a:prstGeom prst="rect">
            <a:avLst/>
          </a:prstGeom>
          <a:noFill/>
        </p:spPr>
        <p:txBody>
          <a:bodyPr wrap="square" rtlCol="0">
            <a:spAutoFit/>
          </a:bodyPr>
          <a:lstStyle/>
          <a:p>
            <a:pPr algn="ctr"/>
            <a:r>
              <a:rPr lang="en-GB" sz="2800" b="1" u="sng" dirty="0"/>
              <a:t>Test Predictions</a:t>
            </a:r>
          </a:p>
        </p:txBody>
      </p:sp>
    </p:spTree>
    <p:extLst>
      <p:ext uri="{BB962C8B-B14F-4D97-AF65-F5344CB8AC3E}">
        <p14:creationId xmlns:p14="http://schemas.microsoft.com/office/powerpoint/2010/main" val="5463961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04608" y="764795"/>
            <a:ext cx="8229600" cy="400811"/>
          </a:xfrm>
          <a:prstGeom prst="rect">
            <a:avLst/>
          </a:prstGeom>
          <a:noFill/>
          <a:ln/>
        </p:spPr>
        <p:txBody>
          <a:bodyPr wrap="square" rtlCol="0" anchor="ctr"/>
          <a:lstStyle/>
          <a:p>
            <a:pPr marL="0" indent="0" algn="ctr">
              <a:buNone/>
            </a:pPr>
            <a:r>
              <a:rPr lang="en-US" sz="3200" b="1" dirty="0">
                <a:solidFill>
                  <a:srgbClr val="1A1A2E"/>
                </a:solidFill>
              </a:rPr>
              <a:t>Conclusion</a:t>
            </a:r>
            <a:endParaRPr lang="en-US" sz="3200" dirty="0"/>
          </a:p>
        </p:txBody>
      </p:sp>
      <p:sp>
        <p:nvSpPr>
          <p:cNvPr id="5" name="Rectangle 1">
            <a:extLst>
              <a:ext uri="{FF2B5EF4-FFF2-40B4-BE49-F238E27FC236}">
                <a16:creationId xmlns:a16="http://schemas.microsoft.com/office/drawing/2014/main" id="{4C21E623-D75E-9E60-09C8-47B5DC01FCBE}"/>
              </a:ext>
            </a:extLst>
          </p:cNvPr>
          <p:cNvSpPr>
            <a:spLocks noChangeArrowheads="1"/>
          </p:cNvSpPr>
          <p:nvPr/>
        </p:nvSpPr>
        <p:spPr bwMode="auto">
          <a:xfrm>
            <a:off x="797735" y="1396638"/>
            <a:ext cx="7843345" cy="3109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lgn="just" defTabSz="914400" eaLnBrk="0" fontAlgn="base" hangingPunct="0">
              <a:lnSpc>
                <a:spcPct val="150000"/>
              </a:lnSpc>
              <a:spcBef>
                <a:spcPct val="0"/>
              </a:spcBef>
              <a:spcAft>
                <a:spcPct val="0"/>
              </a:spcAft>
              <a:buFont typeface="Wingdings" panose="05000000000000000000" pitchFamily="2" charset="2"/>
              <a:buChar char="Ø"/>
            </a:pPr>
            <a:r>
              <a:rPr lang="en-GB" sz="1200" dirty="0"/>
              <a:t>The study implemented and evaluated multiple deep learning architectures, including a custom CNN and four transfer learning models, to classify driver drowsiness states under consistent experimental conditions. </a:t>
            </a:r>
          </a:p>
          <a:p>
            <a:pPr marL="285750" lvl="0" indent="-285750" algn="just" defTabSz="914400" eaLnBrk="0" fontAlgn="base" hangingPunct="0">
              <a:lnSpc>
                <a:spcPct val="150000"/>
              </a:lnSpc>
              <a:spcBef>
                <a:spcPct val="0"/>
              </a:spcBef>
              <a:spcAft>
                <a:spcPct val="0"/>
              </a:spcAft>
              <a:buFont typeface="Wingdings" panose="05000000000000000000" pitchFamily="2" charset="2"/>
              <a:buChar char="Ø"/>
            </a:pPr>
            <a:endParaRPr lang="en-GB" sz="1200" dirty="0"/>
          </a:p>
          <a:p>
            <a:pPr marL="285750" lvl="0" indent="-285750" algn="just" defTabSz="914400" eaLnBrk="0" fontAlgn="base" hangingPunct="0">
              <a:lnSpc>
                <a:spcPct val="150000"/>
              </a:lnSpc>
              <a:spcBef>
                <a:spcPct val="0"/>
              </a:spcBef>
              <a:spcAft>
                <a:spcPct val="0"/>
              </a:spcAft>
              <a:buFont typeface="Wingdings" panose="05000000000000000000" pitchFamily="2" charset="2"/>
              <a:buChar char="Ø"/>
            </a:pPr>
            <a:r>
              <a:rPr lang="en-GB" sz="1200" dirty="0"/>
              <a:t>Transfer learning models (MobileNetV2, VGG16, ResNet50, DenseNet201) demonstrated improved feature extraction capabilities compared to the custom CNN, due to pretrained ImageNet weights. </a:t>
            </a:r>
          </a:p>
          <a:p>
            <a:pPr marL="285750" lvl="0" indent="-285750" algn="just" defTabSz="914400" eaLnBrk="0" fontAlgn="base" hangingPunct="0">
              <a:lnSpc>
                <a:spcPct val="150000"/>
              </a:lnSpc>
              <a:spcBef>
                <a:spcPct val="0"/>
              </a:spcBef>
              <a:spcAft>
                <a:spcPct val="0"/>
              </a:spcAft>
              <a:buFont typeface="Wingdings" panose="05000000000000000000" pitchFamily="2" charset="2"/>
              <a:buChar char="Ø"/>
            </a:pPr>
            <a:endParaRPr lang="en-GB" sz="1200" dirty="0"/>
          </a:p>
          <a:p>
            <a:pPr marL="285750" lvl="0" indent="-285750" algn="just" defTabSz="914400" eaLnBrk="0" fontAlgn="base" hangingPunct="0">
              <a:lnSpc>
                <a:spcPct val="150000"/>
              </a:lnSpc>
              <a:spcBef>
                <a:spcPct val="0"/>
              </a:spcBef>
              <a:spcAft>
                <a:spcPct val="0"/>
              </a:spcAft>
              <a:buFont typeface="Wingdings" panose="05000000000000000000" pitchFamily="2" charset="2"/>
              <a:buChar char="Ø"/>
            </a:pPr>
            <a:r>
              <a:rPr lang="en-GB" sz="1200" dirty="0"/>
              <a:t>Among all models, lightweight architectures such as MobileNetV2 provided a strong balance between accuracy and computational efficiency, making them more suitable for real-time drowsiness detection systems. </a:t>
            </a:r>
          </a:p>
          <a:p>
            <a:pPr marL="285750" lvl="0" indent="-285750" algn="just" defTabSz="914400" eaLnBrk="0" fontAlgn="base" hangingPunct="0">
              <a:lnSpc>
                <a:spcPct val="150000"/>
              </a:lnSpc>
              <a:spcBef>
                <a:spcPct val="0"/>
              </a:spcBef>
              <a:spcAft>
                <a:spcPct val="0"/>
              </a:spcAft>
              <a:buFont typeface="Wingdings" panose="05000000000000000000" pitchFamily="2" charset="2"/>
              <a:buChar char="Ø"/>
            </a:pPr>
            <a:endParaRPr lang="en-GB" sz="1200" dirty="0"/>
          </a:p>
          <a:p>
            <a:pPr marL="285750" lvl="0" indent="-285750" algn="just" defTabSz="914400" eaLnBrk="0" fontAlgn="base" hangingPunct="0">
              <a:lnSpc>
                <a:spcPct val="150000"/>
              </a:lnSpc>
              <a:spcBef>
                <a:spcPct val="0"/>
              </a:spcBef>
              <a:spcAft>
                <a:spcPct val="0"/>
              </a:spcAft>
              <a:buFont typeface="Wingdings" panose="05000000000000000000" pitchFamily="2" charset="2"/>
              <a:buChar char="Ø"/>
            </a:pPr>
            <a:r>
              <a:rPr lang="en-GB" sz="1200" dirty="0"/>
              <a:t>Overall, the results indicate that deep learning-based approaches are effective for driver drowsiness detection, with performance strongly influenced by architecture choice, fine-tuning strategy, and regularization techniques.</a:t>
            </a:r>
            <a:endParaRPr kumimoji="0" lang="en-US" altLang="en-US" sz="120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93420" y="620268"/>
            <a:ext cx="8229600" cy="502920"/>
          </a:xfrm>
          <a:prstGeom prst="rect">
            <a:avLst/>
          </a:prstGeom>
          <a:noFill/>
          <a:ln/>
        </p:spPr>
        <p:txBody>
          <a:bodyPr wrap="square" rtlCol="0" anchor="ctr"/>
          <a:lstStyle/>
          <a:p>
            <a:pPr marL="0" indent="0" algn="ctr">
              <a:buNone/>
            </a:pPr>
            <a:r>
              <a:rPr lang="en-US" sz="3600" b="1" dirty="0">
                <a:solidFill>
                  <a:srgbClr val="1A1A2E"/>
                </a:solidFill>
              </a:rPr>
              <a:t>Future Work</a:t>
            </a:r>
            <a:endParaRPr lang="en-US" sz="3600" dirty="0"/>
          </a:p>
        </p:txBody>
      </p:sp>
      <p:sp>
        <p:nvSpPr>
          <p:cNvPr id="5" name="Rectangle 1">
            <a:extLst>
              <a:ext uri="{FF2B5EF4-FFF2-40B4-BE49-F238E27FC236}">
                <a16:creationId xmlns:a16="http://schemas.microsoft.com/office/drawing/2014/main" id="{E412524E-203B-67D6-8A40-54785F40192D}"/>
              </a:ext>
            </a:extLst>
          </p:cNvPr>
          <p:cNvSpPr>
            <a:spLocks noChangeArrowheads="1"/>
          </p:cNvSpPr>
          <p:nvPr/>
        </p:nvSpPr>
        <p:spPr bwMode="auto">
          <a:xfrm>
            <a:off x="693420" y="1253550"/>
            <a:ext cx="762000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Improve model performance using larger and more diverse datasets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Implement real-time deployment in vehicles for live drowsiness detection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Optimize models for edge devices such as Raspberry Pi or mobile systems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Integrate additional sensors (e.g., steering patterns, heartbeat) for multi-modal detection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Enhance system robustness under different lighting and environmental conditions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Deploy the system as a driver assistance application for real-world use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2B3EC89-F9D9-F5B5-8035-67D5F84E7286}"/>
              </a:ext>
            </a:extLst>
          </p:cNvPr>
          <p:cNvSpPr>
            <a:spLocks noChangeArrowheads="1"/>
          </p:cNvSpPr>
          <p:nvPr/>
        </p:nvSpPr>
        <p:spPr bwMode="auto">
          <a:xfrm>
            <a:off x="883920" y="1200752"/>
            <a:ext cx="7536180" cy="296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tabLst/>
            </a:pPr>
            <a:r>
              <a:rPr kumimoji="0" lang="en-US" altLang="en-US" sz="1400" b="0" i="0" u="none" strike="noStrike" cap="none" normalizeH="0" baseline="0" dirty="0">
                <a:ln>
                  <a:noFill/>
                </a:ln>
                <a:solidFill>
                  <a:schemeClr val="tx1"/>
                </a:solidFill>
                <a:effectLst/>
                <a:latin typeface="Arial" panose="020B0604020202020204" pitchFamily="34" charset="0"/>
              </a:rPr>
              <a:t>Dinges, D.F. and Mallis, M.M. (1998) </a:t>
            </a:r>
            <a:r>
              <a:rPr kumimoji="0" lang="en-US" altLang="en-US" sz="1400" b="0" i="1" u="none" strike="noStrike" cap="none" normalizeH="0" baseline="0" dirty="0">
                <a:ln>
                  <a:noFill/>
                </a:ln>
                <a:solidFill>
                  <a:schemeClr val="tx1"/>
                </a:solidFill>
                <a:effectLst/>
                <a:latin typeface="Arial" panose="020B0604020202020204" pitchFamily="34" charset="0"/>
              </a:rPr>
              <a:t>Managing fatigue in transportation</a:t>
            </a:r>
            <a:r>
              <a:rPr kumimoji="0" lang="en-US" altLang="en-US" sz="1400"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1400" b="0" i="0" u="none" strike="noStrike" cap="none" normalizeH="0" baseline="0" dirty="0">
                <a:ln>
                  <a:noFill/>
                </a:ln>
                <a:solidFill>
                  <a:schemeClr val="tx1"/>
                </a:solidFill>
                <a:effectLst/>
                <a:latin typeface="Arial" panose="020B0604020202020204" pitchFamily="34" charset="0"/>
              </a:rPr>
              <a:t>Sikander, G. and Anwar, S. (2019) ‘Driver fatigue detection systems: A review’, </a:t>
            </a:r>
            <a:r>
              <a:rPr kumimoji="0" lang="en-US" altLang="en-US" sz="1400" b="0" i="1" u="none" strike="noStrike" cap="none" normalizeH="0" baseline="0" dirty="0">
                <a:ln>
                  <a:noFill/>
                </a:ln>
                <a:solidFill>
                  <a:schemeClr val="tx1"/>
                </a:solidFill>
                <a:effectLst/>
                <a:latin typeface="Arial" panose="020B0604020202020204" pitchFamily="34" charset="0"/>
              </a:rPr>
              <a:t>IEEE Transactions on Intelligent Transportation Systems</a:t>
            </a:r>
            <a:r>
              <a:rPr kumimoji="0" lang="en-US" altLang="en-US" sz="1400"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1400" b="0" i="0" u="none" strike="noStrike" cap="none" normalizeH="0" baseline="0" dirty="0">
                <a:ln>
                  <a:noFill/>
                </a:ln>
                <a:solidFill>
                  <a:schemeClr val="tx1"/>
                </a:solidFill>
                <a:effectLst/>
                <a:latin typeface="Arial" panose="020B0604020202020204" pitchFamily="34" charset="0"/>
              </a:rPr>
              <a:t>LeCun, Y., Bengio, Y. and Hinton, G. (2015) ‘Deep learning’, </a:t>
            </a:r>
            <a:r>
              <a:rPr kumimoji="0" lang="en-US" altLang="en-US" sz="1400" b="0" i="1" u="none" strike="noStrike" cap="none" normalizeH="0" baseline="0" dirty="0">
                <a:ln>
                  <a:noFill/>
                </a:ln>
                <a:solidFill>
                  <a:schemeClr val="tx1"/>
                </a:solidFill>
                <a:effectLst/>
                <a:latin typeface="Arial" panose="020B0604020202020204" pitchFamily="34" charset="0"/>
              </a:rPr>
              <a:t>Nature</a:t>
            </a:r>
            <a:r>
              <a:rPr kumimoji="0" lang="en-US" altLang="en-US" sz="1400" b="0" i="0" u="none" strike="noStrike" cap="none" normalizeH="0" baseline="0" dirty="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1400" b="0" i="0" u="none" strike="noStrike" cap="none" normalizeH="0" baseline="0" dirty="0">
                <a:ln>
                  <a:noFill/>
                </a:ln>
                <a:solidFill>
                  <a:schemeClr val="tx1"/>
                </a:solidFill>
                <a:effectLst/>
                <a:latin typeface="Arial" panose="020B0604020202020204" pitchFamily="34" charset="0"/>
              </a:rPr>
              <a:t>Simonyan, K. and Zisserman, A. (2014) ‘Very deep convolutional networks for large-scale image recognition’. </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1400" b="0" i="0" u="none" strike="noStrike" cap="none" normalizeH="0" baseline="0" dirty="0">
                <a:ln>
                  <a:noFill/>
                </a:ln>
                <a:solidFill>
                  <a:schemeClr val="tx1"/>
                </a:solidFill>
                <a:effectLst/>
                <a:latin typeface="Arial" panose="020B0604020202020204" pitchFamily="34" charset="0"/>
              </a:rPr>
              <a:t>He, K. et al. (2016) ‘Deep residual learning for image recognition’. </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1400" b="0" i="0" u="none" strike="noStrike" cap="none" normalizeH="0" baseline="0" dirty="0">
                <a:ln>
                  <a:noFill/>
                </a:ln>
                <a:solidFill>
                  <a:schemeClr val="tx1"/>
                </a:solidFill>
                <a:effectLst/>
                <a:latin typeface="Arial" panose="020B0604020202020204" pitchFamily="34" charset="0"/>
              </a:rPr>
              <a:t>Howard, A.G. et al. (2017) ‘</a:t>
            </a:r>
            <a:r>
              <a:rPr kumimoji="0" lang="en-US" altLang="en-US" sz="1400" b="0" i="0" u="none" strike="noStrike" cap="none" normalizeH="0" baseline="0" dirty="0" err="1">
                <a:ln>
                  <a:noFill/>
                </a:ln>
                <a:solidFill>
                  <a:schemeClr val="tx1"/>
                </a:solidFill>
                <a:effectLst/>
                <a:latin typeface="Arial" panose="020B0604020202020204" pitchFamily="34" charset="0"/>
              </a:rPr>
              <a:t>MobileNets</a:t>
            </a:r>
            <a:r>
              <a:rPr kumimoji="0" lang="en-US" altLang="en-US" sz="1400" b="0" i="0" u="none" strike="noStrike" cap="none" normalizeH="0" baseline="0" dirty="0">
                <a:ln>
                  <a:noFill/>
                </a:ln>
                <a:solidFill>
                  <a:schemeClr val="tx1"/>
                </a:solidFill>
                <a:effectLst/>
                <a:latin typeface="Arial" panose="020B0604020202020204" pitchFamily="34" charset="0"/>
              </a:rPr>
              <a:t>: Efficient convolutional neural networks’. </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1400" b="0" i="0" u="none" strike="noStrike" cap="none" normalizeH="0" baseline="0" dirty="0">
                <a:ln>
                  <a:noFill/>
                </a:ln>
                <a:solidFill>
                  <a:schemeClr val="tx1"/>
                </a:solidFill>
                <a:effectLst/>
                <a:latin typeface="Arial" panose="020B0604020202020204" pitchFamily="34" charset="0"/>
              </a:rPr>
              <a:t>Dunn, J. et al. (2020) </a:t>
            </a:r>
            <a:r>
              <a:rPr kumimoji="0" lang="en-US" altLang="en-US" sz="1400" b="0" i="1" u="none" strike="noStrike" cap="none" normalizeH="0" baseline="0" dirty="0">
                <a:ln>
                  <a:noFill/>
                </a:ln>
                <a:solidFill>
                  <a:schemeClr val="tx1"/>
                </a:solidFill>
                <a:effectLst/>
                <a:latin typeface="Arial" panose="020B0604020202020204" pitchFamily="34" charset="0"/>
              </a:rPr>
              <a:t>Challenges in real-time driver monitoring systems</a:t>
            </a:r>
            <a:r>
              <a:rPr kumimoji="0" lang="en-US" altLang="en-US" sz="1400" b="0" i="0" u="none" strike="noStrike" cap="none" normalizeH="0" baseline="0" dirty="0">
                <a:ln>
                  <a:noFill/>
                </a:ln>
                <a:solidFill>
                  <a:schemeClr val="tx1"/>
                </a:solidFill>
                <a:effectLst/>
                <a:latin typeface="Arial" panose="020B0604020202020204" pitchFamily="34" charset="0"/>
              </a:rPr>
              <a:t>. </a:t>
            </a:r>
          </a:p>
        </p:txBody>
      </p:sp>
      <p:sp>
        <p:nvSpPr>
          <p:cNvPr id="3" name="Text 1">
            <a:extLst>
              <a:ext uri="{FF2B5EF4-FFF2-40B4-BE49-F238E27FC236}">
                <a16:creationId xmlns:a16="http://schemas.microsoft.com/office/drawing/2014/main" id="{67A47A31-D866-9CF8-0CEC-44FE900F025D}"/>
              </a:ext>
            </a:extLst>
          </p:cNvPr>
          <p:cNvSpPr/>
          <p:nvPr/>
        </p:nvSpPr>
        <p:spPr>
          <a:xfrm>
            <a:off x="678180" y="505967"/>
            <a:ext cx="8229600" cy="400811"/>
          </a:xfrm>
          <a:prstGeom prst="rect">
            <a:avLst/>
          </a:prstGeom>
          <a:noFill/>
          <a:ln/>
        </p:spPr>
        <p:txBody>
          <a:bodyPr wrap="square" rtlCol="0" anchor="ctr"/>
          <a:lstStyle/>
          <a:p>
            <a:pPr marL="0" indent="0" algn="ctr">
              <a:buNone/>
            </a:pPr>
            <a:r>
              <a:rPr lang="en-US" sz="3200" b="1" dirty="0">
                <a:solidFill>
                  <a:srgbClr val="1A1A2E"/>
                </a:solidFill>
              </a:rPr>
              <a:t>References</a:t>
            </a:r>
            <a:endParaRPr lang="en-US" sz="3200" dirty="0"/>
          </a:p>
        </p:txBody>
      </p:sp>
    </p:spTree>
    <p:extLst>
      <p:ext uri="{BB962C8B-B14F-4D97-AF65-F5344CB8AC3E}">
        <p14:creationId xmlns:p14="http://schemas.microsoft.com/office/powerpoint/2010/main" val="20301077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367DE7F-735B-F7A7-594C-25B49808150E}"/>
              </a:ext>
            </a:extLst>
          </p:cNvPr>
          <p:cNvSpPr/>
          <p:nvPr/>
        </p:nvSpPr>
        <p:spPr>
          <a:xfrm>
            <a:off x="914400" y="1828800"/>
            <a:ext cx="7315200" cy="742950"/>
          </a:xfrm>
          <a:prstGeom prst="rect">
            <a:avLst/>
          </a:prstGeom>
          <a:noFill/>
          <a:ln/>
        </p:spPr>
        <p:txBody>
          <a:bodyPr wrap="square" rtlCol="0" anchor="ctr"/>
          <a:lstStyle/>
          <a:p>
            <a:pPr marL="0" indent="0" algn="ctr">
              <a:buNone/>
            </a:pPr>
            <a:r>
              <a:rPr lang="en-US" sz="5400" b="1" dirty="0">
                <a:effectLst>
                  <a:outerShdw blurRad="38100" dist="38100" dir="2700000" algn="tl">
                    <a:srgbClr val="000000">
                      <a:alpha val="43137"/>
                    </a:srgbClr>
                  </a:outerShdw>
                </a:effectLst>
              </a:rPr>
              <a:t>Thank You</a:t>
            </a:r>
            <a:endParaRPr lang="en-US" sz="54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457439017"/>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0</TotalTime>
  <Words>1364</Words>
  <Application>Microsoft Office PowerPoint</Application>
  <PresentationFormat>On-screen Show (16:9)</PresentationFormat>
  <Paragraphs>177</Paragraphs>
  <Slides>16</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Cambria</vt:lpstr>
      <vt:lpstr>Wingdings</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Driver Drowsiness Detection System</dc:title>
  <dc:subject>PptxGenJS Presentation</dc:subject>
  <dc:creator>Ishwarya</dc:creator>
  <cp:lastModifiedBy>Navuluri Nuthan Chandu</cp:lastModifiedBy>
  <cp:revision>79</cp:revision>
  <dcterms:created xsi:type="dcterms:W3CDTF">2026-05-02T17:09:34Z</dcterms:created>
  <dcterms:modified xsi:type="dcterms:W3CDTF">2026-05-10T00:17:56Z</dcterms:modified>
</cp:coreProperties>
</file>